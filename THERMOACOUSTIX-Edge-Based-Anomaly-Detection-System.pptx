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18288000" cy="10287000"/>
  <p:notesSz cx="6858000" cy="9144000"/>
  <p:embeddedFontLst>
    <p:embeddedFont>
      <p:font typeface="Akzidenz-Grotesk Bold" panose="020B0604020202020204" charset="0"/>
      <p:regular r:id="rId20"/>
    </p:embeddedFont>
    <p:embeddedFont>
      <p:font typeface="Akzidenz-Grotesk Bold Italics" panose="020B0604020202020204" charset="0"/>
      <p:regular r:id="rId21"/>
    </p:embeddedFont>
    <p:embeddedFont>
      <p:font typeface="Arial Nova Light" panose="020B0304020202020204" pitchFamily="34" charset="0"/>
      <p:regular r:id="rId22"/>
      <p:italic r:id="rId23"/>
    </p:embeddedFont>
    <p:embeddedFont>
      <p:font typeface="IBM Plex Sans" panose="020B0503050203000203" pitchFamily="34" charset="0"/>
      <p:regular r:id="rId24"/>
      <p:bold r:id="rId25"/>
      <p:italic r:id="rId26"/>
      <p:boldItalic r:id="rId27"/>
    </p:embeddedFont>
    <p:embeddedFont>
      <p:font typeface="IBM Plex Sans Bold" panose="020B0803050203000203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724539-91B6-4467-BA01-704DA9B91453}" v="13" dt="2026-10-26T16:59:55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8" d="100"/>
          <a:sy n="58" d="100"/>
        </p:scale>
        <p:origin x="40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184" y="-2"/>
            <a:ext cx="18288002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10286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7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834"/>
            <a:ext cx="9144000" cy="6684168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21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1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1083423"/>
            <a:ext cx="14745026" cy="1097280"/>
          </a:xfrm>
        </p:spPr>
        <p:txBody>
          <a:bodyPr anchor="b">
            <a:normAutofit/>
          </a:bodyPr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628" y="3017520"/>
            <a:ext cx="17103852" cy="6583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592074" y="2557254"/>
            <a:ext cx="17103852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38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8288000" cy="10287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0" y="-1"/>
            <a:ext cx="9144000" cy="10286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3459" y="6347008"/>
            <a:ext cx="10784541" cy="3939992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21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430001" y="315468"/>
            <a:ext cx="2209802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747382" y="315468"/>
            <a:ext cx="3272027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7171567" y="315468"/>
            <a:ext cx="673208" cy="54864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78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699821"/>
            <a:ext cx="17447217" cy="2738511"/>
          </a:xfrm>
        </p:spPr>
        <p:txBody>
          <a:bodyPr anchor="t"/>
          <a:lstStyle>
            <a:lvl1pPr>
              <a:defRPr sz="7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627" y="8026839"/>
            <a:ext cx="10853931" cy="1156914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7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5148182"/>
            <a:ext cx="18288000" cy="2737550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8907951" y="-1495279"/>
            <a:ext cx="2737551" cy="1602254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3161435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550833" y="550838"/>
            <a:ext cx="10299534" cy="9197864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2966923" y="3460996"/>
            <a:ext cx="9792929" cy="385907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2" y="6324164"/>
            <a:ext cx="13330949" cy="39668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749" y="1428750"/>
            <a:ext cx="13330949" cy="8455197"/>
          </a:xfrm>
        </p:spPr>
        <p:txBody>
          <a:bodyPr anchor="b">
            <a:normAutofit/>
          </a:bodyPr>
          <a:lstStyle>
            <a:lvl1pPr algn="r">
              <a:defRPr sz="10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42676" y="0"/>
            <a:ext cx="11400278" cy="10287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" y="5114171"/>
            <a:ext cx="11414453" cy="5172830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592224" y="-563725"/>
            <a:ext cx="10287000" cy="11414453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782920" y="626966"/>
            <a:ext cx="8277168" cy="11042900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70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4" y="2571747"/>
            <a:ext cx="7440926" cy="7084314"/>
          </a:xfrm>
        </p:spPr>
        <p:txBody>
          <a:bodyPr/>
          <a:lstStyle>
            <a:lvl1pPr>
              <a:defRPr sz="7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1864052" y="315171"/>
            <a:ext cx="3763926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28349" y="1870427"/>
            <a:ext cx="5106416" cy="7384778"/>
          </a:xfrm>
        </p:spPr>
        <p:txBody>
          <a:bodyPr vert="horz" lIns="91440" tIns="45720" rIns="91440" bIns="45720" rtlCol="0" anchor="t">
            <a:normAutofit/>
          </a:bodyPr>
          <a:lstStyle>
            <a:lvl1pPr marL="685800" indent="-685800"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400" dirty="0"/>
            </a:lvl1pPr>
            <a:lvl2pPr marL="857250" indent="-514350"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2pPr>
            <a:lvl3pPr marL="1200150" indent="-514350"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3pPr>
            <a:lvl4pPr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4pPr>
            <a:lvl5pPr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12003840" y="1143000"/>
            <a:ext cx="576072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61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21929" y="-3"/>
            <a:ext cx="18266069" cy="6738606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085855" y="1742933"/>
            <a:ext cx="17202146" cy="499567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21931" y="-11199"/>
            <a:ext cx="9165932" cy="3750614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2203386"/>
            <a:ext cx="7644264" cy="3691962"/>
          </a:xfrm>
        </p:spPr>
        <p:txBody>
          <a:bodyPr/>
          <a:lstStyle>
            <a:lvl1pPr>
              <a:defRPr sz="7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1" y="315171"/>
            <a:ext cx="3096134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715500" y="315171"/>
            <a:ext cx="4877262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31075" y="1742933"/>
            <a:ext cx="6237237" cy="4152417"/>
          </a:xfrm>
        </p:spPr>
        <p:txBody>
          <a:bodyPr vert="horz" lIns="91440" tIns="45720" rIns="91440" bIns="45720" rtlCol="0" anchor="b">
            <a:normAutofit/>
          </a:bodyPr>
          <a:lstStyle>
            <a:lvl1pPr marL="685800" indent="-685800"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400" dirty="0"/>
            </a:lvl1pPr>
            <a:lvl2pPr marL="857250" indent="-514350"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2pPr>
            <a:lvl3pPr marL="1200150" indent="-514350"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3pPr>
            <a:lvl4pPr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4pPr>
            <a:lvl5pPr>
              <a:spcBef>
                <a:spcPts val="1500"/>
              </a:spcBef>
              <a:spcAft>
                <a:spcPts val="900"/>
              </a:spcAft>
              <a:buFont typeface="+mj-lt"/>
              <a:buAutoNum type="arabicPeriod"/>
              <a:defRPr lang="en-US" sz="2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6738604"/>
            <a:ext cx="18288000" cy="35483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2899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8288000" cy="1030436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1" y="2591185"/>
            <a:ext cx="18288002" cy="7695812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6427573" y="-1556060"/>
            <a:ext cx="10304369" cy="13416486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5380078" y="-1022558"/>
            <a:ext cx="10174748" cy="12444357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592074" y="9151620"/>
            <a:ext cx="17103852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2"/>
            <a:ext cx="18288000" cy="7922136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7" y="1371600"/>
            <a:ext cx="11247120" cy="3931920"/>
          </a:xfrm>
        </p:spPr>
        <p:txBody>
          <a:bodyPr anchor="b">
            <a:normAutofit/>
          </a:bodyPr>
          <a:lstStyle>
            <a:lvl1pPr>
              <a:defRPr sz="7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627" y="5852160"/>
            <a:ext cx="1124712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368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587703" y="1160772"/>
            <a:ext cx="17700297" cy="4727853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1160771"/>
            <a:ext cx="16539882" cy="2451405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350" y="2877216"/>
            <a:ext cx="4408779" cy="314522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01001" y="315171"/>
            <a:ext cx="4409237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01000" y="2877218"/>
            <a:ext cx="7486650" cy="61995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59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428750"/>
            <a:ext cx="4999176" cy="237286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52628" y="308979"/>
            <a:ext cx="1645920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241567" y="310937"/>
            <a:ext cx="2459058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711140" y="315171"/>
            <a:ext cx="740664" cy="54864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628" y="4649724"/>
            <a:ext cx="4999176" cy="458114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2100"/>
            </a:lvl3pPr>
            <a:lvl4pPr marL="1028700" indent="0">
              <a:buNone/>
              <a:defRPr sz="2100"/>
            </a:lvl4pPr>
            <a:lvl5pPr marL="1371600" indent="0">
              <a:buNone/>
              <a:defRPr sz="2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9350" y="0"/>
            <a:ext cx="12058650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595932" y="4216916"/>
            <a:ext cx="486920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24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6423077"/>
            <a:ext cx="5116437" cy="2299464"/>
          </a:xfrm>
        </p:spPr>
        <p:txBody>
          <a:bodyPr anchor="t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8288000" cy="579611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20841" y="6423077"/>
            <a:ext cx="10515599" cy="229946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342900" indent="0">
              <a:buFont typeface="Arial" panose="020B0604020202020204" pitchFamily="34" charset="0"/>
              <a:buNone/>
              <a:defRPr sz="2100"/>
            </a:lvl2pPr>
            <a:lvl3pPr marL="685800" indent="0">
              <a:buFont typeface="Arial" panose="020B0604020202020204" pitchFamily="34" charset="0"/>
              <a:buNone/>
              <a:defRPr sz="1800"/>
            </a:lvl3pPr>
            <a:lvl4pPr marL="1028700" indent="0">
              <a:buFont typeface="Arial" panose="020B0604020202020204" pitchFamily="34" charset="0"/>
              <a:buNone/>
              <a:defRPr sz="1650"/>
            </a:lvl4pPr>
            <a:lvl5pPr marL="1371600" indent="0">
              <a:buFont typeface="Arial" panose="020B0604020202020204" pitchFamily="34" charset="0"/>
              <a:buNone/>
              <a:defRPr sz="15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2628" y="9395460"/>
            <a:ext cx="2638932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20840" y="9395460"/>
            <a:ext cx="3763926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50485" y="9395460"/>
            <a:ext cx="908213" cy="54864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592074" y="9142790"/>
            <a:ext cx="17103852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401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10439399" y="8624520"/>
            <a:ext cx="7848600" cy="166248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7976" y="1433716"/>
            <a:ext cx="6172200" cy="186607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10439400" cy="10287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1204147" y="315171"/>
            <a:ext cx="2228850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064144" y="315171"/>
            <a:ext cx="2790696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37976" y="4186550"/>
            <a:ext cx="6172200" cy="50749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11393162" y="3713634"/>
            <a:ext cx="6017015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10439399" y="8624520"/>
            <a:ext cx="7848600" cy="166248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034500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526529"/>
            <a:ext cx="5116437" cy="2299464"/>
          </a:xfrm>
        </p:spPr>
        <p:txBody>
          <a:bodyPr anchor="t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20840" y="315171"/>
            <a:ext cx="3763926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20841" y="1526529"/>
            <a:ext cx="10515599" cy="356616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342900" indent="0">
              <a:buFont typeface="Arial" panose="020B0604020202020204" pitchFamily="34" charset="0"/>
              <a:buNone/>
              <a:defRPr sz="2100"/>
            </a:lvl2pPr>
            <a:lvl3pPr marL="685800" indent="0">
              <a:buFont typeface="Arial" panose="020B0604020202020204" pitchFamily="34" charset="0"/>
              <a:buNone/>
              <a:defRPr sz="1800"/>
            </a:lvl3pPr>
            <a:lvl4pPr marL="1028700" indent="0">
              <a:buFont typeface="Arial" panose="020B0604020202020204" pitchFamily="34" charset="0"/>
              <a:buNone/>
              <a:defRPr sz="1650"/>
            </a:lvl4pPr>
            <a:lvl5pPr marL="1371600" indent="0">
              <a:buFont typeface="Arial" panose="020B0604020202020204" pitchFamily="34" charset="0"/>
              <a:buNone/>
              <a:defRPr sz="15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756564"/>
            <a:ext cx="18288000" cy="4530437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49070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2057400"/>
            <a:ext cx="5212080" cy="3429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686551" y="315171"/>
            <a:ext cx="4288961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17359" y="315171"/>
            <a:ext cx="908213" cy="54864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86550" y="2057401"/>
            <a:ext cx="5053167" cy="7052915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3096568" y="1"/>
            <a:ext cx="5191433" cy="1030031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1" y="7156609"/>
            <a:ext cx="7311992" cy="3143708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3" y="5779364"/>
            <a:ext cx="4234650" cy="4534269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595503" y="1126970"/>
            <a:ext cx="1159002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35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1428749"/>
            <a:ext cx="10126691" cy="187630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52628" y="305793"/>
            <a:ext cx="3429000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86200" y="305793"/>
            <a:ext cx="4162505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371004" y="305793"/>
            <a:ext cx="1297191" cy="54864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628" y="3615777"/>
            <a:ext cx="10133271" cy="5711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430000" y="0"/>
            <a:ext cx="6858000" cy="10287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5559147"/>
            <a:ext cx="11430000" cy="4727853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8395668"/>
            <a:ext cx="11430000" cy="1891332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595503" y="1126970"/>
            <a:ext cx="993038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039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4251959"/>
            <a:ext cx="4521573" cy="4389120"/>
          </a:xfrm>
        </p:spPr>
        <p:txBody>
          <a:bodyPr anchor="t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6694" y="0"/>
            <a:ext cx="18314694" cy="363014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20840" y="4251960"/>
            <a:ext cx="10801350" cy="4389120"/>
          </a:xfrm>
        </p:spPr>
        <p:txBody>
          <a:bodyPr>
            <a:noAutofit/>
          </a:bodyPr>
          <a:lstStyle>
            <a:lvl1pPr marL="428625" indent="-428625">
              <a:buFont typeface="Arial" panose="020B0604020202020204" pitchFamily="34" charset="0"/>
              <a:buNone/>
              <a:defRPr sz="2700"/>
            </a:lvl1pPr>
            <a:lvl2pPr marL="771525" indent="-428625">
              <a:buFont typeface="Arial" panose="020B0604020202020204" pitchFamily="34" charset="0"/>
              <a:buNone/>
              <a:defRPr sz="2400"/>
            </a:lvl2pPr>
            <a:lvl3pPr marL="1114425" indent="-428625">
              <a:buFont typeface="Arial" panose="020B0604020202020204" pitchFamily="34" charset="0"/>
              <a:buNone/>
              <a:defRPr sz="2100"/>
            </a:lvl3pPr>
            <a:lvl4pPr marL="1285875" indent="-257175">
              <a:buFont typeface="Arial" panose="020B0604020202020204" pitchFamily="34" charset="0"/>
              <a:buNone/>
              <a:defRPr sz="1800"/>
            </a:lvl4pPr>
            <a:lvl5pPr marL="1628775" indent="-257175">
              <a:buFont typeface="Arial" panose="020B0604020202020204" pitchFamily="34" charset="0"/>
              <a:buNone/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52628" y="9411050"/>
            <a:ext cx="4521573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20840" y="9411050"/>
            <a:ext cx="4743450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6939261" y="9411050"/>
            <a:ext cx="853376" cy="54864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592074" y="9142790"/>
            <a:ext cx="17103852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894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516401"/>
            <a:ext cx="5261127" cy="2097741"/>
          </a:xfrm>
        </p:spPr>
        <p:txBody>
          <a:bodyPr anchor="t">
            <a:normAutofit/>
          </a:bodyPr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99020" y="315171"/>
            <a:ext cx="3763926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77027" y="4020671"/>
            <a:ext cx="5036729" cy="549312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3257553" y="8770599"/>
            <a:ext cx="15030447" cy="1516401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11651047" y="3650044"/>
            <a:ext cx="7416050" cy="585785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6640236" y="1613648"/>
            <a:ext cx="0" cy="7416053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99019" y="1516398"/>
            <a:ext cx="9738360" cy="7818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2922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529717"/>
            <a:ext cx="5129070" cy="2784830"/>
          </a:xfrm>
        </p:spPr>
        <p:txBody>
          <a:bodyPr anchor="t">
            <a:normAutofit/>
          </a:bodyPr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8454" y="315171"/>
            <a:ext cx="3763926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3585" y="4567562"/>
            <a:ext cx="5008113" cy="494623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18452" y="1529715"/>
            <a:ext cx="10972800" cy="83667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3673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498" y="7361417"/>
            <a:ext cx="7980428" cy="2158310"/>
          </a:xfrm>
        </p:spPr>
        <p:txBody>
          <a:bodyPr anchor="t"/>
          <a:lstStyle>
            <a:lvl1pPr>
              <a:lnSpc>
                <a:spcPct val="100000"/>
              </a:lnSpc>
              <a:defRPr sz="3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1957" y="1150145"/>
            <a:ext cx="16980693" cy="5233988"/>
          </a:xfrm>
        </p:spPr>
        <p:txBody>
          <a:bodyPr/>
          <a:lstStyle>
            <a:lvl1pPr>
              <a:lnSpc>
                <a:spcPct val="85000"/>
              </a:lnSpc>
              <a:defRPr sz="36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592074" y="6993365"/>
            <a:ext cx="17103852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9768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2" y="0"/>
            <a:ext cx="18288003" cy="10287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5525199" y="0"/>
            <a:ext cx="12762801" cy="10287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2505612" y="-2505612"/>
            <a:ext cx="11238816" cy="1625004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-1700784"/>
            <a:ext cx="15979140" cy="1451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7547613" y="-30504"/>
            <a:ext cx="10740387" cy="10317504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13442" y="4056869"/>
            <a:ext cx="18274557" cy="6230132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1481" y="4057419"/>
            <a:ext cx="14701838" cy="5307807"/>
          </a:xfrm>
        </p:spPr>
        <p:txBody>
          <a:bodyPr anchor="b"/>
          <a:lstStyle>
            <a:lvl1pPr>
              <a:lnSpc>
                <a:spcPct val="100000"/>
              </a:lnSpc>
              <a:defRPr sz="8100"/>
            </a:lvl1pPr>
            <a:lvl2pPr>
              <a:lnSpc>
                <a:spcPct val="100000"/>
              </a:lnSpc>
              <a:defRPr sz="7200"/>
            </a:lvl2pPr>
            <a:lvl3pPr>
              <a:lnSpc>
                <a:spcPct val="100000"/>
              </a:lnSpc>
              <a:defRPr sz="6600"/>
            </a:lvl3pPr>
            <a:lvl4pPr>
              <a:lnSpc>
                <a:spcPct val="100000"/>
              </a:lnSpc>
              <a:defRPr sz="6000"/>
            </a:lvl4pPr>
            <a:lvl5pPr>
              <a:lnSpc>
                <a:spcPct val="100000"/>
              </a:lnSpc>
              <a:defRPr sz="54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8508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92119"/>
            <a:ext cx="18288000" cy="451616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4000508" y="-4000494"/>
            <a:ext cx="10286994" cy="182879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6572250" y="-6560153"/>
            <a:ext cx="5143500" cy="1826380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0350" y="7451677"/>
            <a:ext cx="12726162" cy="1578023"/>
          </a:xfrm>
        </p:spPr>
        <p:txBody>
          <a:bodyPr anchor="ctr">
            <a:normAutofit/>
          </a:bodyPr>
          <a:lstStyle>
            <a:lvl1pPr marL="205740" indent="-205740">
              <a:lnSpc>
                <a:spcPct val="10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0350" y="2108579"/>
            <a:ext cx="12726162" cy="4631433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6000" b="0" dirty="0"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buNone/>
              <a:defRPr lang="en-US" sz="6000" b="0" dirty="0"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buNone/>
              <a:defRPr lang="en-US" sz="6000" b="0" dirty="0"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buNone/>
              <a:defRPr lang="en-US" sz="6000" b="0" dirty="0"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buNone/>
              <a:defRPr lang="en-US" sz="54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3115928" y="7216221"/>
            <a:ext cx="12410585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996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1143000"/>
            <a:ext cx="10519328" cy="2072148"/>
          </a:xfrm>
        </p:spPr>
        <p:txBody>
          <a:bodyPr anchor="t">
            <a:no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592074" y="4549455"/>
            <a:ext cx="17103852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7147562" y="-853442"/>
            <a:ext cx="3992879" cy="18288003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6774180" y="-1226823"/>
            <a:ext cx="4739640" cy="18288005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4846" y="5143500"/>
            <a:ext cx="16757549" cy="36984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615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7531385" y="-3645195"/>
            <a:ext cx="2737551" cy="1780032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3886186"/>
            <a:ext cx="18288000" cy="2737550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1143000"/>
            <a:ext cx="9143999" cy="2181759"/>
          </a:xfrm>
        </p:spPr>
        <p:txBody>
          <a:bodyPr anchor="t">
            <a:normAutofit/>
          </a:bodyPr>
          <a:lstStyle>
            <a:lvl1pPr>
              <a:defRPr sz="8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1" y="5006341"/>
            <a:ext cx="5392757" cy="424287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700" dirty="0"/>
            </a:lvl1pPr>
            <a:lvl2pPr marL="342900" indent="0">
              <a:buNone/>
              <a:defRPr lang="en-US" sz="2100" dirty="0"/>
            </a:lvl2pPr>
            <a:lvl3pPr marL="685800" indent="0">
              <a:buNone/>
              <a:defRPr lang="en-US" sz="1800" dirty="0"/>
            </a:lvl3pPr>
            <a:lvl4pPr marL="1028700" indent="0">
              <a:buNone/>
              <a:defRPr lang="en-US" sz="1650" dirty="0"/>
            </a:lvl4pPr>
            <a:lvl5pPr marL="1371600" indent="0">
              <a:buNone/>
              <a:defRPr lang="en-US" sz="157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89849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097281"/>
            <a:ext cx="16287750" cy="10385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438" y="2709862"/>
            <a:ext cx="7748588" cy="687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0085837" y="2709862"/>
            <a:ext cx="7486650" cy="687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592074" y="2377440"/>
            <a:ext cx="17103852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3758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1"/>
            <a:ext cx="18287999" cy="20066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097280"/>
            <a:ext cx="17378172" cy="9930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628" y="2663669"/>
            <a:ext cx="7749540" cy="96012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none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438" y="3738721"/>
            <a:ext cx="7748588" cy="5850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081260" y="2663666"/>
            <a:ext cx="7749540" cy="96012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none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0085836" y="3738721"/>
            <a:ext cx="7772861" cy="5850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592074" y="2369901"/>
            <a:ext cx="17103852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1"/>
            <a:ext cx="18287999" cy="20066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1095117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508760"/>
            <a:ext cx="14859000" cy="1201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856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8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1303710"/>
            <a:ext cx="17406069" cy="14538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2628" y="315171"/>
            <a:ext cx="2638932" cy="54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 cap="none" spc="0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3728" y="315171"/>
            <a:ext cx="3763926" cy="54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50485" y="315171"/>
            <a:ext cx="908213" cy="54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200" cap="none" spc="0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628" y="3070927"/>
            <a:ext cx="17406069" cy="6351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592074" y="1126970"/>
            <a:ext cx="17103852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510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42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20000"/>
        </a:lnSpc>
        <a:spcBef>
          <a:spcPts val="1500"/>
        </a:spcBef>
        <a:buFont typeface="Arial" panose="020B0604020202020204" pitchFamily="34" charset="0"/>
        <a:buNone/>
        <a:defRPr sz="21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10500" y="0"/>
            <a:ext cx="10477500" cy="10287000"/>
          </a:xfrm>
          <a:custGeom>
            <a:avLst/>
            <a:gdLst/>
            <a:ahLst/>
            <a:cxnLst/>
            <a:rect l="l" t="t" r="r" b="b"/>
            <a:pathLst>
              <a:path w="10477500" h="10287000">
                <a:moveTo>
                  <a:pt x="0" y="0"/>
                </a:moveTo>
                <a:lnTo>
                  <a:pt x="10477500" y="0"/>
                </a:lnTo>
                <a:lnTo>
                  <a:pt x="10477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272" r="-37272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191250" y="0"/>
            <a:ext cx="8096250" cy="10287000"/>
            <a:chOff x="0" y="0"/>
            <a:chExt cx="10795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795000" cy="13716000"/>
            </a:xfrm>
            <a:custGeom>
              <a:avLst/>
              <a:gdLst/>
              <a:ahLst/>
              <a:cxnLst/>
              <a:rect l="l" t="t" r="r" b="b"/>
              <a:pathLst>
                <a:path w="10795000" h="13716000">
                  <a:moveTo>
                    <a:pt x="0" y="0"/>
                  </a:moveTo>
                  <a:lnTo>
                    <a:pt x="10795000" y="0"/>
                  </a:lnTo>
                  <a:lnTo>
                    <a:pt x="1079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2070D">
                <a:alpha val="7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795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1123950"/>
            <a:ext cx="133350" cy="6191250"/>
            <a:chOff x="0" y="0"/>
            <a:chExt cx="177800" cy="825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800" cy="8255000"/>
            </a:xfrm>
            <a:custGeom>
              <a:avLst/>
              <a:gdLst/>
              <a:ahLst/>
              <a:cxnLst/>
              <a:rect l="l" t="t" r="r" b="b"/>
              <a:pathLst>
                <a:path w="177800" h="8255000">
                  <a:moveTo>
                    <a:pt x="0" y="0"/>
                  </a:moveTo>
                  <a:lnTo>
                    <a:pt x="177800" y="0"/>
                  </a:lnTo>
                  <a:lnTo>
                    <a:pt x="1778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27E6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78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33500" y="1095375"/>
            <a:ext cx="6858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ENGINEERING INNOVATION • EDGE-AI • NDT SCREENING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4867" y="2342850"/>
            <a:ext cx="11694383" cy="203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7"/>
              </a:lnSpc>
            </a:pPr>
            <a:r>
              <a:rPr lang="en-US" sz="5065" b="1" dirty="0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THERMOACOUSTIX: EDGE-BASED ANOMALY DETECTION SYSTEM</a:t>
            </a:r>
          </a:p>
          <a:p>
            <a:pPr algn="l">
              <a:lnSpc>
                <a:spcPts val="5267"/>
              </a:lnSpc>
            </a:pPr>
            <a:endParaRPr lang="en-US" sz="5065" b="1" dirty="0">
              <a:solidFill>
                <a:srgbClr val="F4FBFF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04925" y="4181475"/>
            <a:ext cx="619125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 low-cost automated vibration-based material screening prototype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875" y="5637839"/>
            <a:ext cx="5238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 spc="179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IMPACT TO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4925" y="6732003"/>
            <a:ext cx="5334000" cy="233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Presented by TEAM VOLTAGE MAFIA</a:t>
            </a:r>
          </a:p>
          <a:p>
            <a:pPr algn="l">
              <a:lnSpc>
                <a:spcPts val="2310"/>
              </a:lnSpc>
            </a:pPr>
            <a:endParaRPr lang="en-US" sz="1650" dirty="0">
              <a:solidFill>
                <a:srgbClr val="F4FB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Submitted By:</a:t>
            </a:r>
          </a:p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SAKSHAM DHAWAN (26BVD0024)</a:t>
            </a:r>
          </a:p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PATNALA SUBHAOM KUMAR PATRO (26BEC0268)</a:t>
            </a:r>
          </a:p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AYAAN GARG (26BEC0472)</a:t>
            </a:r>
          </a:p>
          <a:p>
            <a:pPr algn="l">
              <a:lnSpc>
                <a:spcPts val="2310"/>
              </a:lnSpc>
            </a:pPr>
            <a:endParaRPr lang="en-US" sz="1650" dirty="0">
              <a:solidFill>
                <a:srgbClr val="F4FB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• B.Tech ECE AND VLSI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01 • NON-VISIBLE DIFFERENCES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THE PROBLEM WE ARE SOLVING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857250" y="1895475"/>
            <a:ext cx="10477500" cy="53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Identical outside. Mechanically different inside.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2533650"/>
            <a:ext cx="981075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Defects, damage and material variation can hide beneath a normal surface — across brackets, structural parts, machine components and glass samples.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7750" y="4095750"/>
            <a:ext cx="3048000" cy="876300"/>
            <a:chOff x="0" y="0"/>
            <a:chExt cx="4064000" cy="1168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7202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HUMAN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095750" y="4533900"/>
            <a:ext cx="857250" cy="0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5048250" y="4095750"/>
            <a:ext cx="3048000" cy="876300"/>
            <a:chOff x="0" y="0"/>
            <a:chExt cx="4064000" cy="1168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7202B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HAMMER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8096250" y="4533900"/>
            <a:ext cx="857250" cy="0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9048750" y="4095750"/>
            <a:ext cx="3048000" cy="876300"/>
            <a:chOff x="0" y="0"/>
            <a:chExt cx="4064000" cy="1168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7202B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EAR / EYE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096750" y="4533900"/>
            <a:ext cx="857250" cy="0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3049250" y="4095750"/>
            <a:ext cx="3048000" cy="876300"/>
            <a:chOff x="0" y="0"/>
            <a:chExt cx="4064000" cy="1168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7202B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SUBJECTIVE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7750" y="5905500"/>
            <a:ext cx="3048000" cy="876300"/>
            <a:chOff x="0" y="0"/>
            <a:chExt cx="4064000" cy="1168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CONTROLLED IMPACT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4095750" y="6343650"/>
            <a:ext cx="85725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5048250" y="5905500"/>
            <a:ext cx="3048000" cy="876300"/>
            <a:chOff x="0" y="0"/>
            <a:chExt cx="4064000" cy="1168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ADXL345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8096250" y="6343650"/>
            <a:ext cx="85725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9048750" y="5905500"/>
            <a:ext cx="3048000" cy="876300"/>
            <a:chOff x="0" y="0"/>
            <a:chExt cx="4064000" cy="1168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FFT + REFERENCE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2096750" y="6343650"/>
            <a:ext cx="85725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35"/>
          <p:cNvGrpSpPr/>
          <p:nvPr/>
        </p:nvGrpSpPr>
        <p:grpSpPr>
          <a:xfrm>
            <a:off x="13049250" y="5905500"/>
            <a:ext cx="3048000" cy="876300"/>
            <a:chOff x="0" y="0"/>
            <a:chExt cx="4064000" cy="1168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064000" cy="1168400"/>
            </a:xfrm>
            <a:custGeom>
              <a:avLst/>
              <a:gdLst/>
              <a:ahLst/>
              <a:cxnLst/>
              <a:rect l="l" t="t" r="r" b="b"/>
              <a:pathLst>
                <a:path w="4064000" h="11684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112838"/>
                  </a:lnTo>
                  <a:cubicBezTo>
                    <a:pt x="4064000" y="1143524"/>
                    <a:pt x="4039124" y="1168400"/>
                    <a:pt x="4008438" y="1168400"/>
                  </a:cubicBezTo>
                  <a:lnTo>
                    <a:pt x="55562" y="1168400"/>
                  </a:lnTo>
                  <a:cubicBezTo>
                    <a:pt x="24876" y="1168400"/>
                    <a:pt x="0" y="1143524"/>
                    <a:pt x="0" y="11128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4064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DECISION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47750" y="3733800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91AAB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TRADITIONAL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7750" y="5543550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OUR APPROACH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7750" y="7639050"/>
            <a:ext cx="15240000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COST  •  HUMAN VARIABILITY  •  ENVIRONMENT  •  LIMITED AUTOMATION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7750" y="8305800"/>
            <a:ext cx="142875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7E6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can repeatable excitation + digital vibration features reveal deviation from a known reference?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02 • PHYSICAL RESPONSE → DIGITAL EVIDENCE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OUR CORE IDEA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4095750"/>
            <a:ext cx="1666875" cy="1047750"/>
            <a:chOff x="0" y="0"/>
            <a:chExt cx="2222500" cy="1397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MATERIAL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2524125" y="4619625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2971800" y="4095750"/>
            <a:ext cx="1666875" cy="1047750"/>
            <a:chOff x="0" y="0"/>
            <a:chExt cx="2222500" cy="139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SERVO STRIKE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4638675" y="4619625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5086350" y="4095750"/>
            <a:ext cx="1666875" cy="1047750"/>
            <a:chOff x="0" y="0"/>
            <a:chExt cx="2222500" cy="1397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VIBRATION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6753225" y="4619625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7200900" y="4095750"/>
            <a:ext cx="1666875" cy="1047750"/>
            <a:chOff x="0" y="0"/>
            <a:chExt cx="2222500" cy="139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ADXL345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8867775" y="4619625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9315450" y="4095750"/>
            <a:ext cx="1666875" cy="1047750"/>
            <a:chOff x="0" y="0"/>
            <a:chExt cx="2222500" cy="1397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RAW SIGNAL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0982325" y="4619625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1430000" y="4095750"/>
            <a:ext cx="1666875" cy="1047750"/>
            <a:chOff x="0" y="0"/>
            <a:chExt cx="2222500" cy="1397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FFT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13096875" y="4619625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13544550" y="4095750"/>
            <a:ext cx="1666875" cy="1047750"/>
            <a:chOff x="0" y="0"/>
            <a:chExt cx="2222500" cy="1397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REFERENCE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15211425" y="4619625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15659100" y="4095750"/>
            <a:ext cx="1666875" cy="1047750"/>
            <a:chOff x="0" y="0"/>
            <a:chExt cx="2222500" cy="1397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22500" cy="1397000"/>
            </a:xfrm>
            <a:custGeom>
              <a:avLst/>
              <a:gdLst/>
              <a:ahLst/>
              <a:cxnLst/>
              <a:rect l="l" t="t" r="r" b="b"/>
              <a:pathLst>
                <a:path w="2222500" h="1397000">
                  <a:moveTo>
                    <a:pt x="101600" y="0"/>
                  </a:moveTo>
                  <a:lnTo>
                    <a:pt x="2120900" y="0"/>
                  </a:lnTo>
                  <a:cubicBezTo>
                    <a:pt x="2177012" y="0"/>
                    <a:pt x="2222500" y="45488"/>
                    <a:pt x="2222500" y="101600"/>
                  </a:cubicBezTo>
                  <a:lnTo>
                    <a:pt x="2222500" y="1295400"/>
                  </a:lnTo>
                  <a:cubicBezTo>
                    <a:pt x="2222500" y="1351512"/>
                    <a:pt x="2177012" y="1397000"/>
                    <a:pt x="2120900" y="1397000"/>
                  </a:cubicBezTo>
                  <a:lnTo>
                    <a:pt x="101600" y="1397000"/>
                  </a:lnTo>
                  <a:cubicBezTo>
                    <a:pt x="45488" y="1397000"/>
                    <a:pt x="0" y="1351512"/>
                    <a:pt x="0" y="1295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22225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ANOMALY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19250" y="2057400"/>
            <a:ext cx="150495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Every material answers an impact with a characteristic vibration signature.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71750" y="6324600"/>
            <a:ext cx="131445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2625" b="1" i="1">
                <a:solidFill>
                  <a:srgbClr val="27E6FF"/>
                </a:solidFill>
                <a:latin typeface="Akzidenz-Grotesk Bold Italics"/>
                <a:ea typeface="Akzidenz-Grotesk Bold Italics"/>
                <a:cs typeface="Akzidenz-Grotesk Bold Italics"/>
                <a:sym typeface="Akzidenz-Grotesk Bold Italics"/>
              </a:rPr>
              <a:t>“Converting a physical vibration response into measurable digital information.”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333750" y="7486650"/>
            <a:ext cx="11620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Repeatable excitation makes responses comparable. Frequency features make them computable.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03 • ESP32 AS THE CENTRAL BRAIN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SYSTEM ARCHITECTURE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7334250" y="3810000"/>
            <a:ext cx="3619500" cy="2000250"/>
            <a:chOff x="0" y="0"/>
            <a:chExt cx="4826000" cy="2667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26000" cy="2667000"/>
            </a:xfrm>
            <a:custGeom>
              <a:avLst/>
              <a:gdLst/>
              <a:ahLst/>
              <a:cxnLst/>
              <a:rect l="l" t="t" r="r" b="b"/>
              <a:pathLst>
                <a:path w="4826000" h="2667000">
                  <a:moveTo>
                    <a:pt x="46789" y="0"/>
                  </a:moveTo>
                  <a:lnTo>
                    <a:pt x="4779211" y="0"/>
                  </a:lnTo>
                  <a:cubicBezTo>
                    <a:pt x="4805052" y="0"/>
                    <a:pt x="4826000" y="20948"/>
                    <a:pt x="4826000" y="46789"/>
                  </a:cubicBezTo>
                  <a:lnTo>
                    <a:pt x="4826000" y="2620211"/>
                  </a:lnTo>
                  <a:cubicBezTo>
                    <a:pt x="4826000" y="2646052"/>
                    <a:pt x="4805052" y="2667000"/>
                    <a:pt x="4779211" y="2667000"/>
                  </a:cubicBezTo>
                  <a:lnTo>
                    <a:pt x="46789" y="2667000"/>
                  </a:lnTo>
                  <a:cubicBezTo>
                    <a:pt x="20948" y="2667000"/>
                    <a:pt x="0" y="2646052"/>
                    <a:pt x="0" y="2620211"/>
                  </a:cubicBezTo>
                  <a:lnTo>
                    <a:pt x="0" y="46789"/>
                  </a:lnTo>
                  <a:cubicBezTo>
                    <a:pt x="0" y="20948"/>
                    <a:pt x="20948" y="0"/>
                    <a:pt x="46789" y="0"/>
                  </a:cubicBez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4826000" cy="264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r>
                <a:rPr lang="en-US" sz="22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ESP32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CONTROL • ACQUIRE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COMMUNICATE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314700"/>
            <a:ext cx="2952750" cy="742950"/>
            <a:chOff x="0" y="0"/>
            <a:chExt cx="3937000" cy="990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37000" cy="990600"/>
            </a:xfrm>
            <a:custGeom>
              <a:avLst/>
              <a:gdLst/>
              <a:ahLst/>
              <a:cxnLst/>
              <a:rect l="l" t="t" r="r" b="b"/>
              <a:pathLst>
                <a:path w="3937000" h="9906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933245"/>
                  </a:lnTo>
                  <a:cubicBezTo>
                    <a:pt x="3937000" y="948457"/>
                    <a:pt x="3930957" y="963045"/>
                    <a:pt x="3920201" y="973801"/>
                  </a:cubicBezTo>
                  <a:cubicBezTo>
                    <a:pt x="3909445" y="984557"/>
                    <a:pt x="3894856" y="990600"/>
                    <a:pt x="3879645" y="990600"/>
                  </a:cubicBezTo>
                  <a:lnTo>
                    <a:pt x="57355" y="990600"/>
                  </a:lnTo>
                  <a:cubicBezTo>
                    <a:pt x="42143" y="990600"/>
                    <a:pt x="27555" y="984557"/>
                    <a:pt x="16799" y="973801"/>
                  </a:cubicBezTo>
                  <a:cubicBezTo>
                    <a:pt x="6043" y="963045"/>
                    <a:pt x="0" y="948457"/>
                    <a:pt x="0" y="9332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3937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POTENTIOMETER</a:t>
              </a:r>
            </a:p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profile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78000" y="2943225"/>
            <a:ext cx="2952750" cy="742950"/>
            <a:chOff x="0" y="0"/>
            <a:chExt cx="3937000" cy="990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37000" cy="990600"/>
            </a:xfrm>
            <a:custGeom>
              <a:avLst/>
              <a:gdLst/>
              <a:ahLst/>
              <a:cxnLst/>
              <a:rect l="l" t="t" r="r" b="b"/>
              <a:pathLst>
                <a:path w="3937000" h="9906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933245"/>
                  </a:lnTo>
                  <a:cubicBezTo>
                    <a:pt x="3937000" y="948457"/>
                    <a:pt x="3930957" y="963045"/>
                    <a:pt x="3920201" y="973801"/>
                  </a:cubicBezTo>
                  <a:cubicBezTo>
                    <a:pt x="3909445" y="984557"/>
                    <a:pt x="3894856" y="990600"/>
                    <a:pt x="3879645" y="990600"/>
                  </a:cubicBezTo>
                  <a:lnTo>
                    <a:pt x="57355" y="990600"/>
                  </a:lnTo>
                  <a:cubicBezTo>
                    <a:pt x="42143" y="990600"/>
                    <a:pt x="27555" y="984557"/>
                    <a:pt x="16799" y="973801"/>
                  </a:cubicBezTo>
                  <a:cubicBezTo>
                    <a:pt x="6043" y="963045"/>
                    <a:pt x="0" y="948457"/>
                    <a:pt x="0" y="9332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3937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SERVO</a:t>
              </a:r>
            </a:p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striker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3981450" y="3686175"/>
            <a:ext cx="3419357" cy="610956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11049000" y="3283330"/>
            <a:ext cx="3189433" cy="195542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028700" y="4438650"/>
            <a:ext cx="2952750" cy="742950"/>
            <a:chOff x="0" y="0"/>
            <a:chExt cx="3937000" cy="990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37000" cy="990600"/>
            </a:xfrm>
            <a:custGeom>
              <a:avLst/>
              <a:gdLst/>
              <a:ahLst/>
              <a:cxnLst/>
              <a:rect l="l" t="t" r="r" b="b"/>
              <a:pathLst>
                <a:path w="3937000" h="9906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933245"/>
                  </a:lnTo>
                  <a:cubicBezTo>
                    <a:pt x="3937000" y="948457"/>
                    <a:pt x="3930957" y="963045"/>
                    <a:pt x="3920201" y="973801"/>
                  </a:cubicBezTo>
                  <a:cubicBezTo>
                    <a:pt x="3909445" y="984557"/>
                    <a:pt x="3894856" y="990600"/>
                    <a:pt x="3879645" y="990600"/>
                  </a:cubicBezTo>
                  <a:lnTo>
                    <a:pt x="57355" y="990600"/>
                  </a:lnTo>
                  <a:cubicBezTo>
                    <a:pt x="42143" y="990600"/>
                    <a:pt x="27555" y="984557"/>
                    <a:pt x="16799" y="973801"/>
                  </a:cubicBezTo>
                  <a:cubicBezTo>
                    <a:pt x="6043" y="963045"/>
                    <a:pt x="0" y="948457"/>
                    <a:pt x="0" y="9332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937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LCD</a:t>
              </a:r>
            </a:p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status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4139001" y="4334234"/>
            <a:ext cx="3189433" cy="692155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952500" y="5667375"/>
            <a:ext cx="2952750" cy="742950"/>
            <a:chOff x="0" y="0"/>
            <a:chExt cx="3937000" cy="990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37000" cy="990600"/>
            </a:xfrm>
            <a:custGeom>
              <a:avLst/>
              <a:gdLst/>
              <a:ahLst/>
              <a:cxnLst/>
              <a:rect l="l" t="t" r="r" b="b"/>
              <a:pathLst>
                <a:path w="3937000" h="9906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933245"/>
                  </a:lnTo>
                  <a:cubicBezTo>
                    <a:pt x="3937000" y="948457"/>
                    <a:pt x="3930957" y="963045"/>
                    <a:pt x="3920201" y="973801"/>
                  </a:cubicBezTo>
                  <a:cubicBezTo>
                    <a:pt x="3909445" y="984557"/>
                    <a:pt x="3894856" y="990600"/>
                    <a:pt x="3879645" y="990600"/>
                  </a:cubicBezTo>
                  <a:lnTo>
                    <a:pt x="57355" y="990600"/>
                  </a:lnTo>
                  <a:cubicBezTo>
                    <a:pt x="42143" y="990600"/>
                    <a:pt x="27555" y="984557"/>
                    <a:pt x="16799" y="973801"/>
                  </a:cubicBezTo>
                  <a:cubicBezTo>
                    <a:pt x="6043" y="963045"/>
                    <a:pt x="0" y="948457"/>
                    <a:pt x="0" y="9332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3937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DHT11</a:t>
              </a:r>
            </a:p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 + RH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3905250" y="4333875"/>
            <a:ext cx="3333750" cy="1704975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4674937" y="4867275"/>
            <a:ext cx="2952750" cy="742950"/>
            <a:chOff x="0" y="0"/>
            <a:chExt cx="3937000" cy="990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37000" cy="990600"/>
            </a:xfrm>
            <a:custGeom>
              <a:avLst/>
              <a:gdLst/>
              <a:ahLst/>
              <a:cxnLst/>
              <a:rect l="l" t="t" r="r" b="b"/>
              <a:pathLst>
                <a:path w="3937000" h="9906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933245"/>
                  </a:lnTo>
                  <a:cubicBezTo>
                    <a:pt x="3937000" y="948457"/>
                    <a:pt x="3930957" y="963045"/>
                    <a:pt x="3920201" y="973801"/>
                  </a:cubicBezTo>
                  <a:cubicBezTo>
                    <a:pt x="3909445" y="984557"/>
                    <a:pt x="3894856" y="990600"/>
                    <a:pt x="3879645" y="990600"/>
                  </a:cubicBezTo>
                  <a:lnTo>
                    <a:pt x="57355" y="990600"/>
                  </a:lnTo>
                  <a:cubicBezTo>
                    <a:pt x="42143" y="990600"/>
                    <a:pt x="27555" y="984557"/>
                    <a:pt x="16799" y="973801"/>
                  </a:cubicBezTo>
                  <a:cubicBezTo>
                    <a:pt x="6043" y="963045"/>
                    <a:pt x="0" y="948457"/>
                    <a:pt x="0" y="9332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937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PYTHON</a:t>
              </a:r>
            </a:p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advanced DSP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1049000" y="5238750"/>
            <a:ext cx="3625937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952500" y="6896100"/>
            <a:ext cx="2952750" cy="742950"/>
            <a:chOff x="0" y="0"/>
            <a:chExt cx="3937000" cy="990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937000" cy="990600"/>
            </a:xfrm>
            <a:custGeom>
              <a:avLst/>
              <a:gdLst/>
              <a:ahLst/>
              <a:cxnLst/>
              <a:rect l="l" t="t" r="r" b="b"/>
              <a:pathLst>
                <a:path w="3937000" h="9906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933245"/>
                  </a:lnTo>
                  <a:cubicBezTo>
                    <a:pt x="3937000" y="948457"/>
                    <a:pt x="3930957" y="963045"/>
                    <a:pt x="3920201" y="973801"/>
                  </a:cubicBezTo>
                  <a:cubicBezTo>
                    <a:pt x="3909445" y="984557"/>
                    <a:pt x="3894856" y="990600"/>
                    <a:pt x="3879645" y="990600"/>
                  </a:cubicBezTo>
                  <a:lnTo>
                    <a:pt x="57355" y="990600"/>
                  </a:lnTo>
                  <a:cubicBezTo>
                    <a:pt x="42143" y="990600"/>
                    <a:pt x="27555" y="984557"/>
                    <a:pt x="16799" y="973801"/>
                  </a:cubicBezTo>
                  <a:cubicBezTo>
                    <a:pt x="6043" y="963045"/>
                    <a:pt x="0" y="948457"/>
                    <a:pt x="0" y="9332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937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ADXL345</a:t>
              </a:r>
            </a:p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vibration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582097" y="6896100"/>
            <a:ext cx="2848653" cy="742950"/>
            <a:chOff x="0" y="0"/>
            <a:chExt cx="3798204" cy="990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98204" cy="990600"/>
            </a:xfrm>
            <a:custGeom>
              <a:avLst/>
              <a:gdLst/>
              <a:ahLst/>
              <a:cxnLst/>
              <a:rect l="l" t="t" r="r" b="b"/>
              <a:pathLst>
                <a:path w="3798204" h="990600">
                  <a:moveTo>
                    <a:pt x="59451" y="0"/>
                  </a:moveTo>
                  <a:lnTo>
                    <a:pt x="3738754" y="0"/>
                  </a:lnTo>
                  <a:cubicBezTo>
                    <a:pt x="3771587" y="0"/>
                    <a:pt x="3798204" y="26617"/>
                    <a:pt x="3798204" y="59451"/>
                  </a:cubicBezTo>
                  <a:lnTo>
                    <a:pt x="3798204" y="931149"/>
                  </a:lnTo>
                  <a:cubicBezTo>
                    <a:pt x="3798204" y="963983"/>
                    <a:pt x="3771587" y="990600"/>
                    <a:pt x="3738754" y="990600"/>
                  </a:cubicBezTo>
                  <a:lnTo>
                    <a:pt x="59451" y="990600"/>
                  </a:lnTo>
                  <a:cubicBezTo>
                    <a:pt x="26617" y="990600"/>
                    <a:pt x="0" y="963983"/>
                    <a:pt x="0" y="931149"/>
                  </a:cubicBezTo>
                  <a:lnTo>
                    <a:pt x="0" y="59451"/>
                  </a:lnTo>
                  <a:cubicBezTo>
                    <a:pt x="0" y="26617"/>
                    <a:pt x="26617" y="0"/>
                    <a:pt x="59451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798204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FFT →</a:t>
              </a:r>
            </a:p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DECISION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4177949" y="4333875"/>
            <a:ext cx="3061051" cy="2933700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>
            <a:off x="11049000" y="5238750"/>
            <a:ext cx="3437847" cy="2123985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37"/>
          <p:cNvSpPr txBox="1"/>
          <p:nvPr/>
        </p:nvSpPr>
        <p:spPr>
          <a:xfrm>
            <a:off x="952500" y="192405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SENSORS / CONTEXT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82750" y="192405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ACTUATION / OUTPUT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62500" y="7781925"/>
            <a:ext cx="8763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Actuator → Material → ADXL345 → ESP32 / Python → FFT → Decision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04 • AUTOMATED TEST SEQUENCE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HOW THE SYSTEM WORKS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2333625"/>
            <a:ext cx="2857500" cy="1428750"/>
            <a:chOff x="0" y="0"/>
            <a:chExt cx="3810000" cy="190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3714750" y="30480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4191000" y="2333625"/>
            <a:ext cx="2857500" cy="1428750"/>
            <a:chOff x="0" y="0"/>
            <a:chExt cx="3810000" cy="190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7048500" y="30480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7524750" y="2333625"/>
            <a:ext cx="2857500" cy="1428750"/>
            <a:chOff x="0" y="0"/>
            <a:chExt cx="3810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10382250" y="30480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0858500" y="2333625"/>
            <a:ext cx="2857500" cy="1428750"/>
            <a:chOff x="0" y="0"/>
            <a:chExt cx="3810000" cy="190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716000" y="30480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4192250" y="2333625"/>
            <a:ext cx="2857500" cy="1428750"/>
            <a:chOff x="0" y="0"/>
            <a:chExt cx="3810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" y="4429125"/>
            <a:ext cx="2857500" cy="1428750"/>
            <a:chOff x="0" y="0"/>
            <a:chExt cx="3810000" cy="1905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>
            <a:off x="3714750" y="51435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4191000" y="4429125"/>
            <a:ext cx="2857500" cy="1428750"/>
            <a:chOff x="0" y="0"/>
            <a:chExt cx="3810000" cy="1905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7048500" y="51435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3" name="Group 33"/>
          <p:cNvGrpSpPr/>
          <p:nvPr/>
        </p:nvGrpSpPr>
        <p:grpSpPr>
          <a:xfrm>
            <a:off x="7524750" y="4429125"/>
            <a:ext cx="2857500" cy="1428750"/>
            <a:chOff x="0" y="0"/>
            <a:chExt cx="3810000" cy="1905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6" name="AutoShape 36"/>
          <p:cNvSpPr/>
          <p:nvPr/>
        </p:nvSpPr>
        <p:spPr>
          <a:xfrm>
            <a:off x="10382250" y="51435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10858500" y="4429125"/>
            <a:ext cx="2857500" cy="1428750"/>
            <a:chOff x="0" y="0"/>
            <a:chExt cx="3810000" cy="1905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0" name="AutoShape 40"/>
          <p:cNvSpPr/>
          <p:nvPr/>
        </p:nvSpPr>
        <p:spPr>
          <a:xfrm>
            <a:off x="13716000" y="51435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14192250" y="4429125"/>
            <a:ext cx="2857500" cy="1428750"/>
            <a:chOff x="0" y="0"/>
            <a:chExt cx="3810000" cy="1905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7250" y="6524625"/>
            <a:ext cx="2857500" cy="1428750"/>
            <a:chOff x="0" y="0"/>
            <a:chExt cx="3810000" cy="1905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AutoShape 47"/>
          <p:cNvSpPr/>
          <p:nvPr/>
        </p:nvSpPr>
        <p:spPr>
          <a:xfrm>
            <a:off x="3714750" y="72390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4191000" y="6524625"/>
            <a:ext cx="2857500" cy="1428750"/>
            <a:chOff x="0" y="0"/>
            <a:chExt cx="3810000" cy="1905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>
            <a:off x="7048500" y="7239000"/>
            <a:ext cx="381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" name="Group 52"/>
          <p:cNvGrpSpPr/>
          <p:nvPr/>
        </p:nvGrpSpPr>
        <p:grpSpPr>
          <a:xfrm>
            <a:off x="7524750" y="6524625"/>
            <a:ext cx="2857500" cy="1428750"/>
            <a:chOff x="0" y="0"/>
            <a:chExt cx="3810000" cy="1905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047750" y="2409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47750" y="3048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LOAD SAMPLE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381500" y="2409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381500" y="3048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PRESENCE CHECK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715250" y="2409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715250" y="3048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SELECT PROFILE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049000" y="2409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049000" y="3048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VERIFY CHAMBER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382750" y="2409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05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382750" y="3048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SERVO STRIKE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47750" y="45053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06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47750" y="51435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CAPTURE VIBRATION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381500" y="45053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07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381500" y="51435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LOG ENVIRONMENT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715250" y="45053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08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715250" y="51435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FILTER + WINDOW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049000" y="45053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09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049000" y="51435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FFT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4382750" y="45053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4382750" y="51435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EXTRACT FEATURES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47750" y="6600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11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47750" y="7239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COMPARE BASELINE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381500" y="6600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12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381500" y="7239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CHECK TOLERANCE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715250" y="6600825"/>
            <a:ext cx="571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13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715250" y="7239000"/>
            <a:ext cx="2476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DISPLAY + ALERT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05 • COORDINATION, NOT JUST COMPUTATION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ESP32 — THE BRAIN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232699" y="3540966"/>
            <a:ext cx="4476750" cy="2476500"/>
            <a:chOff x="0" y="0"/>
            <a:chExt cx="5969000" cy="330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9000" cy="3302000"/>
            </a:xfrm>
            <a:custGeom>
              <a:avLst/>
              <a:gdLst/>
              <a:ahLst/>
              <a:cxnLst/>
              <a:rect l="l" t="t" r="r" b="b"/>
              <a:pathLst>
                <a:path w="5969000" h="3302000">
                  <a:moveTo>
                    <a:pt x="37830" y="0"/>
                  </a:moveTo>
                  <a:lnTo>
                    <a:pt x="5931170" y="0"/>
                  </a:lnTo>
                  <a:cubicBezTo>
                    <a:pt x="5941203" y="0"/>
                    <a:pt x="5950826" y="3986"/>
                    <a:pt x="5957920" y="11080"/>
                  </a:cubicBezTo>
                  <a:cubicBezTo>
                    <a:pt x="5965014" y="18175"/>
                    <a:pt x="5969000" y="27797"/>
                    <a:pt x="5969000" y="37830"/>
                  </a:cubicBezTo>
                  <a:lnTo>
                    <a:pt x="5969000" y="3264170"/>
                  </a:lnTo>
                  <a:cubicBezTo>
                    <a:pt x="5969000" y="3274203"/>
                    <a:pt x="5965014" y="3283826"/>
                    <a:pt x="5957920" y="3290920"/>
                  </a:cubicBezTo>
                  <a:cubicBezTo>
                    <a:pt x="5950826" y="3298014"/>
                    <a:pt x="5941203" y="3302000"/>
                    <a:pt x="5931170" y="3302000"/>
                  </a:cubicBezTo>
                  <a:lnTo>
                    <a:pt x="37830" y="3302000"/>
                  </a:lnTo>
                  <a:cubicBezTo>
                    <a:pt x="27797" y="3302000"/>
                    <a:pt x="18175" y="3298014"/>
                    <a:pt x="11080" y="3290920"/>
                  </a:cubicBezTo>
                  <a:cubicBezTo>
                    <a:pt x="3986" y="3283826"/>
                    <a:pt x="0" y="3274203"/>
                    <a:pt x="0" y="3264170"/>
                  </a:cubicBezTo>
                  <a:lnTo>
                    <a:pt x="0" y="37830"/>
                  </a:lnTo>
                  <a:cubicBezTo>
                    <a:pt x="0" y="27797"/>
                    <a:pt x="3986" y="18175"/>
                    <a:pt x="11080" y="11080"/>
                  </a:cubicBezTo>
                  <a:cubicBezTo>
                    <a:pt x="18175" y="3986"/>
                    <a:pt x="27797" y="0"/>
                    <a:pt x="37830" y="0"/>
                  </a:cubicBez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5969000" cy="328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2"/>
                </a:lnSpc>
              </a:pPr>
              <a:r>
                <a:rPr lang="en-US" sz="25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ESP32</a:t>
              </a:r>
            </a:p>
            <a:p>
              <a:pPr algn="ctr">
                <a:lnSpc>
                  <a:spcPts val="2932"/>
                </a:lnSpc>
              </a:pPr>
              <a:r>
                <a:rPr lang="en-US" sz="25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COORDINATED</a:t>
              </a:r>
            </a:p>
            <a:p>
              <a:pPr algn="ctr">
                <a:lnSpc>
                  <a:spcPts val="2932"/>
                </a:lnSpc>
              </a:pPr>
              <a:r>
                <a:rPr lang="en-US" sz="25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INSPECTION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15125" y="1219200"/>
            <a:ext cx="2762250" cy="800100"/>
            <a:chOff x="0" y="0"/>
            <a:chExt cx="3683000" cy="1066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83000" cy="1066800"/>
            </a:xfrm>
            <a:custGeom>
              <a:avLst/>
              <a:gdLst/>
              <a:ahLst/>
              <a:cxnLst/>
              <a:rect l="l" t="t" r="r" b="b"/>
              <a:pathLst>
                <a:path w="3683000" h="1066800">
                  <a:moveTo>
                    <a:pt x="61310" y="0"/>
                  </a:moveTo>
                  <a:lnTo>
                    <a:pt x="3621690" y="0"/>
                  </a:lnTo>
                  <a:cubicBezTo>
                    <a:pt x="3655551" y="0"/>
                    <a:pt x="3683000" y="27450"/>
                    <a:pt x="3683000" y="61310"/>
                  </a:cubicBezTo>
                  <a:lnTo>
                    <a:pt x="3683000" y="1005490"/>
                  </a:lnTo>
                  <a:cubicBezTo>
                    <a:pt x="3683000" y="1039350"/>
                    <a:pt x="3655551" y="1066800"/>
                    <a:pt x="3621690" y="1066800"/>
                  </a:cubicBezTo>
                  <a:lnTo>
                    <a:pt x="61310" y="1066800"/>
                  </a:lnTo>
                  <a:cubicBezTo>
                    <a:pt x="27450" y="1066800"/>
                    <a:pt x="0" y="1039350"/>
                    <a:pt x="0" y="1005490"/>
                  </a:cubicBezTo>
                  <a:lnTo>
                    <a:pt x="0" y="61310"/>
                  </a:lnTo>
                  <a:cubicBezTo>
                    <a:pt x="0" y="27450"/>
                    <a:pt x="27450" y="0"/>
                    <a:pt x="6131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3683000" cy="1066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SENSOR READING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H="1">
            <a:off x="8124194" y="2148413"/>
            <a:ext cx="44215" cy="1392553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555639" y="2295078"/>
            <a:ext cx="2762250" cy="800100"/>
            <a:chOff x="0" y="0"/>
            <a:chExt cx="3683000" cy="1066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83000" cy="1066800"/>
            </a:xfrm>
            <a:custGeom>
              <a:avLst/>
              <a:gdLst/>
              <a:ahLst/>
              <a:cxnLst/>
              <a:rect l="l" t="t" r="r" b="b"/>
              <a:pathLst>
                <a:path w="3683000" h="1066800">
                  <a:moveTo>
                    <a:pt x="61310" y="0"/>
                  </a:moveTo>
                  <a:lnTo>
                    <a:pt x="3621690" y="0"/>
                  </a:lnTo>
                  <a:cubicBezTo>
                    <a:pt x="3655551" y="0"/>
                    <a:pt x="3683000" y="27450"/>
                    <a:pt x="3683000" y="61310"/>
                  </a:cubicBezTo>
                  <a:lnTo>
                    <a:pt x="3683000" y="1005490"/>
                  </a:lnTo>
                  <a:cubicBezTo>
                    <a:pt x="3683000" y="1039350"/>
                    <a:pt x="3655551" y="1066800"/>
                    <a:pt x="3621690" y="1066800"/>
                  </a:cubicBezTo>
                  <a:lnTo>
                    <a:pt x="61310" y="1066800"/>
                  </a:lnTo>
                  <a:cubicBezTo>
                    <a:pt x="27450" y="1066800"/>
                    <a:pt x="0" y="1039350"/>
                    <a:pt x="0" y="1005490"/>
                  </a:cubicBezTo>
                  <a:lnTo>
                    <a:pt x="0" y="61310"/>
                  </a:lnTo>
                  <a:cubicBezTo>
                    <a:pt x="0" y="27450"/>
                    <a:pt x="27450" y="0"/>
                    <a:pt x="6131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3683000" cy="1066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SERVO CONTROL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H="1">
            <a:off x="10709449" y="3019127"/>
            <a:ext cx="1656512" cy="657154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2751147" y="4712554"/>
            <a:ext cx="2762250" cy="800100"/>
            <a:chOff x="0" y="0"/>
            <a:chExt cx="3683000" cy="1066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83000" cy="1066800"/>
            </a:xfrm>
            <a:custGeom>
              <a:avLst/>
              <a:gdLst/>
              <a:ahLst/>
              <a:cxnLst/>
              <a:rect l="l" t="t" r="r" b="b"/>
              <a:pathLst>
                <a:path w="3683000" h="1066800">
                  <a:moveTo>
                    <a:pt x="61310" y="0"/>
                  </a:moveTo>
                  <a:lnTo>
                    <a:pt x="3621690" y="0"/>
                  </a:lnTo>
                  <a:cubicBezTo>
                    <a:pt x="3655551" y="0"/>
                    <a:pt x="3683000" y="27450"/>
                    <a:pt x="3683000" y="61310"/>
                  </a:cubicBezTo>
                  <a:lnTo>
                    <a:pt x="3683000" y="1005490"/>
                  </a:lnTo>
                  <a:cubicBezTo>
                    <a:pt x="3683000" y="1039350"/>
                    <a:pt x="3655551" y="1066800"/>
                    <a:pt x="3621690" y="1066800"/>
                  </a:cubicBezTo>
                  <a:lnTo>
                    <a:pt x="61310" y="1066800"/>
                  </a:lnTo>
                  <a:cubicBezTo>
                    <a:pt x="27450" y="1066800"/>
                    <a:pt x="0" y="1039350"/>
                    <a:pt x="0" y="1005490"/>
                  </a:cubicBezTo>
                  <a:lnTo>
                    <a:pt x="0" y="61310"/>
                  </a:lnTo>
                  <a:cubicBezTo>
                    <a:pt x="0" y="27450"/>
                    <a:pt x="27450" y="0"/>
                    <a:pt x="6131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683000" cy="1066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SAFETY MONITORING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H="1" flipV="1">
            <a:off x="10709449" y="5076542"/>
            <a:ext cx="2316423" cy="0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9401408" y="6651219"/>
            <a:ext cx="2762250" cy="800100"/>
            <a:chOff x="0" y="0"/>
            <a:chExt cx="3683000" cy="1066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83000" cy="1066800"/>
            </a:xfrm>
            <a:custGeom>
              <a:avLst/>
              <a:gdLst/>
              <a:ahLst/>
              <a:cxnLst/>
              <a:rect l="l" t="t" r="r" b="b"/>
              <a:pathLst>
                <a:path w="3683000" h="1066800">
                  <a:moveTo>
                    <a:pt x="61310" y="0"/>
                  </a:moveTo>
                  <a:lnTo>
                    <a:pt x="3621690" y="0"/>
                  </a:lnTo>
                  <a:cubicBezTo>
                    <a:pt x="3655551" y="0"/>
                    <a:pt x="3683000" y="27450"/>
                    <a:pt x="3683000" y="61310"/>
                  </a:cubicBezTo>
                  <a:lnTo>
                    <a:pt x="3683000" y="1005490"/>
                  </a:lnTo>
                  <a:cubicBezTo>
                    <a:pt x="3683000" y="1039350"/>
                    <a:pt x="3655551" y="1066800"/>
                    <a:pt x="3621690" y="1066800"/>
                  </a:cubicBezTo>
                  <a:lnTo>
                    <a:pt x="61310" y="1066800"/>
                  </a:lnTo>
                  <a:cubicBezTo>
                    <a:pt x="27450" y="1066800"/>
                    <a:pt x="0" y="1039350"/>
                    <a:pt x="0" y="1005490"/>
                  </a:cubicBezTo>
                  <a:lnTo>
                    <a:pt x="0" y="61310"/>
                  </a:lnTo>
                  <a:cubicBezTo>
                    <a:pt x="0" y="27450"/>
                    <a:pt x="27450" y="0"/>
                    <a:pt x="6131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3683000" cy="1066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USER INPUT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H="1" flipV="1">
            <a:off x="8471074" y="6017466"/>
            <a:ext cx="1825568" cy="625769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4028842" y="6651219"/>
            <a:ext cx="2762250" cy="800100"/>
            <a:chOff x="0" y="0"/>
            <a:chExt cx="3683000" cy="1066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83000" cy="1066800"/>
            </a:xfrm>
            <a:custGeom>
              <a:avLst/>
              <a:gdLst/>
              <a:ahLst/>
              <a:cxnLst/>
              <a:rect l="l" t="t" r="r" b="b"/>
              <a:pathLst>
                <a:path w="3683000" h="1066800">
                  <a:moveTo>
                    <a:pt x="61310" y="0"/>
                  </a:moveTo>
                  <a:lnTo>
                    <a:pt x="3621690" y="0"/>
                  </a:lnTo>
                  <a:cubicBezTo>
                    <a:pt x="3655551" y="0"/>
                    <a:pt x="3683000" y="27450"/>
                    <a:pt x="3683000" y="61310"/>
                  </a:cubicBezTo>
                  <a:lnTo>
                    <a:pt x="3683000" y="1005490"/>
                  </a:lnTo>
                  <a:cubicBezTo>
                    <a:pt x="3683000" y="1039350"/>
                    <a:pt x="3655551" y="1066800"/>
                    <a:pt x="3621690" y="1066800"/>
                  </a:cubicBezTo>
                  <a:lnTo>
                    <a:pt x="61310" y="1066800"/>
                  </a:lnTo>
                  <a:cubicBezTo>
                    <a:pt x="27450" y="1066800"/>
                    <a:pt x="0" y="1039350"/>
                    <a:pt x="0" y="1005490"/>
                  </a:cubicBezTo>
                  <a:lnTo>
                    <a:pt x="0" y="61310"/>
                  </a:lnTo>
                  <a:cubicBezTo>
                    <a:pt x="0" y="27450"/>
                    <a:pt x="27450" y="0"/>
                    <a:pt x="6131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683000" cy="1066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LCD 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6083448" y="6017466"/>
            <a:ext cx="479787" cy="633753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679103" y="4712554"/>
            <a:ext cx="2762250" cy="800100"/>
            <a:chOff x="0" y="0"/>
            <a:chExt cx="3683000" cy="1066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83000" cy="1066800"/>
            </a:xfrm>
            <a:custGeom>
              <a:avLst/>
              <a:gdLst/>
              <a:ahLst/>
              <a:cxnLst/>
              <a:rect l="l" t="t" r="r" b="b"/>
              <a:pathLst>
                <a:path w="3683000" h="1066800">
                  <a:moveTo>
                    <a:pt x="61310" y="0"/>
                  </a:moveTo>
                  <a:lnTo>
                    <a:pt x="3621690" y="0"/>
                  </a:lnTo>
                  <a:cubicBezTo>
                    <a:pt x="3655551" y="0"/>
                    <a:pt x="3683000" y="27450"/>
                    <a:pt x="3683000" y="61310"/>
                  </a:cubicBezTo>
                  <a:lnTo>
                    <a:pt x="3683000" y="1005490"/>
                  </a:lnTo>
                  <a:cubicBezTo>
                    <a:pt x="3683000" y="1039350"/>
                    <a:pt x="3655551" y="1066800"/>
                    <a:pt x="3621690" y="1066800"/>
                  </a:cubicBezTo>
                  <a:lnTo>
                    <a:pt x="61310" y="1066800"/>
                  </a:lnTo>
                  <a:cubicBezTo>
                    <a:pt x="27450" y="1066800"/>
                    <a:pt x="0" y="1039350"/>
                    <a:pt x="0" y="1005490"/>
                  </a:cubicBezTo>
                  <a:lnTo>
                    <a:pt x="0" y="61310"/>
                  </a:lnTo>
                  <a:cubicBezTo>
                    <a:pt x="0" y="27450"/>
                    <a:pt x="27450" y="0"/>
                    <a:pt x="6131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683000" cy="1066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PYTHON LINK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flipV="1">
            <a:off x="3407743" y="4779216"/>
            <a:ext cx="2824956" cy="468926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3" name="Group 33"/>
          <p:cNvGrpSpPr/>
          <p:nvPr/>
        </p:nvGrpSpPr>
        <p:grpSpPr>
          <a:xfrm>
            <a:off x="1874611" y="2295078"/>
            <a:ext cx="2762250" cy="800100"/>
            <a:chOff x="0" y="0"/>
            <a:chExt cx="3683000" cy="1066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83000" cy="1066800"/>
            </a:xfrm>
            <a:custGeom>
              <a:avLst/>
              <a:gdLst/>
              <a:ahLst/>
              <a:cxnLst/>
              <a:rect l="l" t="t" r="r" b="b"/>
              <a:pathLst>
                <a:path w="3683000" h="1066800">
                  <a:moveTo>
                    <a:pt x="61310" y="0"/>
                  </a:moveTo>
                  <a:lnTo>
                    <a:pt x="3621690" y="0"/>
                  </a:lnTo>
                  <a:cubicBezTo>
                    <a:pt x="3655551" y="0"/>
                    <a:pt x="3683000" y="27450"/>
                    <a:pt x="3683000" y="61310"/>
                  </a:cubicBezTo>
                  <a:lnTo>
                    <a:pt x="3683000" y="1005490"/>
                  </a:lnTo>
                  <a:cubicBezTo>
                    <a:pt x="3683000" y="1039350"/>
                    <a:pt x="3655551" y="1066800"/>
                    <a:pt x="3621690" y="1066800"/>
                  </a:cubicBezTo>
                  <a:lnTo>
                    <a:pt x="61310" y="1066800"/>
                  </a:lnTo>
                  <a:cubicBezTo>
                    <a:pt x="27450" y="1066800"/>
                    <a:pt x="0" y="1039350"/>
                    <a:pt x="0" y="1005490"/>
                  </a:cubicBezTo>
                  <a:lnTo>
                    <a:pt x="0" y="61310"/>
                  </a:lnTo>
                  <a:cubicBezTo>
                    <a:pt x="0" y="27450"/>
                    <a:pt x="27450" y="0"/>
                    <a:pt x="6131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3683000" cy="1066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52"/>
                </a:lnSpc>
              </a:pPr>
              <a:r>
                <a:rPr lang="en-US" sz="13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TEST SEQUENCING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3810000" y="3152132"/>
            <a:ext cx="2422699" cy="908547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37"/>
          <p:cNvSpPr txBox="1"/>
          <p:nvPr/>
        </p:nvSpPr>
        <p:spPr>
          <a:xfrm>
            <a:off x="2857500" y="8096250"/>
            <a:ext cx="12573000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“Transforms components into a coordinated automated inspection system.”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810000" y="8848725"/>
            <a:ext cx="106680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IoT • industrial automation • smart monitoring • robotics • sensor networks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06 • REPEATABILITY MEETS MEASUREMENT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CONTROLLED EXCITATION &amp; VIBRATION SENSING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2238375"/>
            <a:ext cx="7429500" cy="6000750"/>
            <a:chOff x="0" y="0"/>
            <a:chExt cx="9906000" cy="800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06000" cy="8001000"/>
            </a:xfrm>
            <a:custGeom>
              <a:avLst/>
              <a:gdLst/>
              <a:ahLst/>
              <a:cxnLst/>
              <a:rect l="l" t="t" r="r" b="b"/>
              <a:pathLst>
                <a:path w="9906000" h="8001000">
                  <a:moveTo>
                    <a:pt x="0" y="0"/>
                  </a:moveTo>
                  <a:lnTo>
                    <a:pt x="9906000" y="0"/>
                  </a:lnTo>
                  <a:lnTo>
                    <a:pt x="9906000" y="8001000"/>
                  </a:lnTo>
                  <a:lnTo>
                    <a:pt x="0" y="8001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06000" cy="803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01250" y="2238375"/>
            <a:ext cx="7429500" cy="6000750"/>
            <a:chOff x="0" y="0"/>
            <a:chExt cx="9906000" cy="800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06000" cy="8001000"/>
            </a:xfrm>
            <a:custGeom>
              <a:avLst/>
              <a:gdLst/>
              <a:ahLst/>
              <a:cxnLst/>
              <a:rect l="l" t="t" r="r" b="b"/>
              <a:pathLst>
                <a:path w="9906000" h="8001000">
                  <a:moveTo>
                    <a:pt x="0" y="0"/>
                  </a:moveTo>
                  <a:lnTo>
                    <a:pt x="9906000" y="0"/>
                  </a:lnTo>
                  <a:lnTo>
                    <a:pt x="9906000" y="8001000"/>
                  </a:lnTo>
                  <a:lnTo>
                    <a:pt x="0" y="8001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906000" cy="803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3500" y="2533650"/>
            <a:ext cx="619125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SERVO STRIKER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3500" y="3419475"/>
            <a:ext cx="5810250" cy="138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Repeatable mechanical impact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reduces manual variation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automates testing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improves comparability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3500" y="7210425"/>
            <a:ext cx="5905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ROBOTICS • ACTUATION • POSITIONING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7500" y="2533650"/>
            <a:ext cx="619125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ADXL345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7500" y="3419475"/>
            <a:ext cx="5810250" cy="138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Time-domain acceleration response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transient amplitude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oscillation behaviour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decay characteristics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7500" y="721042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CONDITION MONITORING • MOTION • VIBRATION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81250" y="8534400"/>
            <a:ext cx="1352550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SERVO  →  CONTROLLED IMPACT  →  MATERIAL  →  VIBRATION  →  ADXL345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07 • TIME DOMAIN → FREQUENCY DOMAIN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FFT — THE FREQUENCY SIGNATURE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2381250"/>
            <a:ext cx="7239000" cy="4095750"/>
            <a:chOff x="0" y="0"/>
            <a:chExt cx="9652000" cy="546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52000" cy="5461000"/>
            </a:xfrm>
            <a:custGeom>
              <a:avLst/>
              <a:gdLst/>
              <a:ahLst/>
              <a:cxnLst/>
              <a:rect l="l" t="t" r="r" b="b"/>
              <a:pathLst>
                <a:path w="9652000" h="5461000">
                  <a:moveTo>
                    <a:pt x="0" y="0"/>
                  </a:moveTo>
                  <a:lnTo>
                    <a:pt x="9652000" y="0"/>
                  </a:lnTo>
                  <a:lnTo>
                    <a:pt x="9652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6520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91750" y="2381250"/>
            <a:ext cx="7239000" cy="4095750"/>
            <a:chOff x="0" y="0"/>
            <a:chExt cx="9652000" cy="546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52000" cy="5461000"/>
            </a:xfrm>
            <a:custGeom>
              <a:avLst/>
              <a:gdLst/>
              <a:ahLst/>
              <a:cxnLst/>
              <a:rect l="l" t="t" r="r" b="b"/>
              <a:pathLst>
                <a:path w="9652000" h="5461000">
                  <a:moveTo>
                    <a:pt x="0" y="0"/>
                  </a:moveTo>
                  <a:lnTo>
                    <a:pt x="9652000" y="0"/>
                  </a:lnTo>
                  <a:lnTo>
                    <a:pt x="9652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6520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143000" y="4429125"/>
            <a:ext cx="180975" cy="814384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323975" y="5243509"/>
            <a:ext cx="180975" cy="90942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1504950" y="4691934"/>
            <a:ext cx="180975" cy="642517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1685925" y="3894628"/>
            <a:ext cx="180975" cy="797306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1866900" y="3594969"/>
            <a:ext cx="180975" cy="299658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2047875" y="3594969"/>
            <a:ext cx="180975" cy="39490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2228850" y="3989869"/>
            <a:ext cx="180975" cy="712617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2409825" y="4702486"/>
            <a:ext cx="180975" cy="431611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V="1">
            <a:off x="2590800" y="4963215"/>
            <a:ext cx="180975" cy="170882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V="1">
            <a:off x="2771775" y="4379146"/>
            <a:ext cx="180975" cy="584069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V="1">
            <a:off x="2952750" y="3885887"/>
            <a:ext cx="180975" cy="493259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V="1">
            <a:off x="3133725" y="3870860"/>
            <a:ext cx="180975" cy="15027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3314700" y="3870860"/>
            <a:ext cx="180975" cy="433689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3495675" y="4304549"/>
            <a:ext cx="180975" cy="495841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3676650" y="4800390"/>
            <a:ext cx="180975" cy="155209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V="1">
            <a:off x="3857625" y="4675388"/>
            <a:ext cx="180975" cy="280211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flipV="1">
            <a:off x="4038600" y="4222164"/>
            <a:ext cx="180975" cy="453224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flipV="1">
            <a:off x="4219575" y="3974190"/>
            <a:ext cx="180975" cy="247974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4400550" y="3974190"/>
            <a:ext cx="180975" cy="138174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4581525" y="4112363"/>
            <a:ext cx="180975" cy="380029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4762500" y="4492392"/>
            <a:ext cx="180975" cy="29630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 flipV="1">
            <a:off x="4943475" y="4771076"/>
            <a:ext cx="180975" cy="17617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 flipV="1">
            <a:off x="5124450" y="4480940"/>
            <a:ext cx="180975" cy="290136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 flipV="1">
            <a:off x="5305425" y="4174490"/>
            <a:ext cx="180975" cy="30645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 flipV="1">
            <a:off x="5486400" y="4098743"/>
            <a:ext cx="180975" cy="75747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5667375" y="4098743"/>
            <a:ext cx="180975" cy="195613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5848350" y="4294356"/>
            <a:ext cx="180975" cy="286622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>
            <a:off x="6029325" y="4580979"/>
            <a:ext cx="180975" cy="140015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 flipV="1">
            <a:off x="6210300" y="4614929"/>
            <a:ext cx="180975" cy="106065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AutoShape 41"/>
          <p:cNvSpPr/>
          <p:nvPr/>
        </p:nvSpPr>
        <p:spPr>
          <a:xfrm flipV="1">
            <a:off x="6391275" y="4369172"/>
            <a:ext cx="180975" cy="245757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 flipV="1">
            <a:off x="6572250" y="4192820"/>
            <a:ext cx="180975" cy="176352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>
            <a:off x="6753225" y="4192820"/>
            <a:ext cx="180975" cy="28355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6934200" y="4221175"/>
            <a:ext cx="180975" cy="192549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>
            <a:off x="7115175" y="4413724"/>
            <a:ext cx="180975" cy="18816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>
            <a:off x="7296150" y="4601883"/>
            <a:ext cx="180975" cy="33355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47"/>
          <p:cNvSpPr/>
          <p:nvPr/>
        </p:nvSpPr>
        <p:spPr>
          <a:xfrm flipV="1">
            <a:off x="7477125" y="4500509"/>
            <a:ext cx="180975" cy="134729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10953750" y="4381500"/>
            <a:ext cx="361950" cy="1714500"/>
            <a:chOff x="0" y="0"/>
            <a:chExt cx="482600" cy="2286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2600" cy="2286000"/>
            </a:xfrm>
            <a:custGeom>
              <a:avLst/>
              <a:gdLst/>
              <a:ahLst/>
              <a:cxnLst/>
              <a:rect l="l" t="t" r="r" b="b"/>
              <a:pathLst>
                <a:path w="482600" h="2286000">
                  <a:moveTo>
                    <a:pt x="0" y="0"/>
                  </a:moveTo>
                  <a:lnTo>
                    <a:pt x="482600" y="0"/>
                  </a:lnTo>
                  <a:lnTo>
                    <a:pt x="482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4826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763500" y="3333750"/>
            <a:ext cx="361950" cy="2762250"/>
            <a:chOff x="0" y="0"/>
            <a:chExt cx="482600" cy="3683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82600" cy="3683000"/>
            </a:xfrm>
            <a:custGeom>
              <a:avLst/>
              <a:gdLst/>
              <a:ahLst/>
              <a:cxnLst/>
              <a:rect l="l" t="t" r="r" b="b"/>
              <a:pathLst>
                <a:path w="482600" h="3683000">
                  <a:moveTo>
                    <a:pt x="0" y="0"/>
                  </a:moveTo>
                  <a:lnTo>
                    <a:pt x="482600" y="0"/>
                  </a:lnTo>
                  <a:lnTo>
                    <a:pt x="4826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27E6FF"/>
            </a:solidFill>
            <a:ln cap="sq">
              <a:noFill/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4826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668500" y="4857750"/>
            <a:ext cx="361950" cy="1238250"/>
            <a:chOff x="0" y="0"/>
            <a:chExt cx="482600" cy="1651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82600" cy="1651000"/>
            </a:xfrm>
            <a:custGeom>
              <a:avLst/>
              <a:gdLst/>
              <a:ahLst/>
              <a:cxnLst/>
              <a:rect l="l" t="t" r="r" b="b"/>
              <a:pathLst>
                <a:path w="482600" h="1651000">
                  <a:moveTo>
                    <a:pt x="0" y="0"/>
                  </a:moveTo>
                  <a:lnTo>
                    <a:pt x="482600" y="0"/>
                  </a:lnTo>
                  <a:lnTo>
                    <a:pt x="4826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4826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6287750" y="3905250"/>
            <a:ext cx="361950" cy="2190750"/>
            <a:chOff x="0" y="0"/>
            <a:chExt cx="482600" cy="29210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82600" cy="2921000"/>
            </a:xfrm>
            <a:custGeom>
              <a:avLst/>
              <a:gdLst/>
              <a:ahLst/>
              <a:cxnLst/>
              <a:rect l="l" t="t" r="r" b="b"/>
              <a:pathLst>
                <a:path w="482600" h="2921000">
                  <a:moveTo>
                    <a:pt x="0" y="0"/>
                  </a:moveTo>
                  <a:lnTo>
                    <a:pt x="482600" y="0"/>
                  </a:lnTo>
                  <a:lnTo>
                    <a:pt x="4826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826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857250" y="66389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TIME DOMAIN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57250" y="7077075"/>
            <a:ext cx="72390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When and how vibration changes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191750" y="66389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FREQUENCY DOMAIN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191750" y="7077075"/>
            <a:ext cx="72390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Which frequencies — and their strengths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524000" y="7962900"/>
            <a:ext cx="152400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FEATURES  dominant frequency • peak amplitude • spectral energy • ratios • band energy • decay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67000" y="8677275"/>
            <a:ext cx="1295400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FFT extracts features. It does not, by itself, decide defect presence.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259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08 • SIGNAL PROCESSING PIPELINE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FROM RAW ACCELERATION TO ANOMALY SCORE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Freeform 6"/>
          <p:cNvSpPr/>
          <p:nvPr/>
        </p:nvSpPr>
        <p:spPr>
          <a:xfrm>
            <a:off x="3794021" y="2252815"/>
            <a:ext cx="10118500" cy="4017163"/>
          </a:xfrm>
          <a:custGeom>
            <a:avLst/>
            <a:gdLst/>
            <a:ahLst/>
            <a:cxnLst/>
            <a:rect l="l" t="t" r="r" b="b"/>
            <a:pathLst>
              <a:path w="10118500" h="4017163">
                <a:moveTo>
                  <a:pt x="0" y="0"/>
                </a:moveTo>
                <a:lnTo>
                  <a:pt x="10118500" y="0"/>
                </a:lnTo>
                <a:lnTo>
                  <a:pt x="10118500" y="4017163"/>
                </a:lnTo>
                <a:lnTo>
                  <a:pt x="0" y="401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8" t="-5229" r="-170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80759" y="6670028"/>
            <a:ext cx="4330127" cy="75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888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Δf = Fs / N          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94293" y="6822078"/>
            <a:ext cx="7036457" cy="5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0"/>
              </a:lnSpc>
            </a:pPr>
            <a:r>
              <a:rPr lang="en-US" sz="3078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Nyquist:  Fs &gt; 2 × Fmax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003976"/>
            <a:ext cx="12124357" cy="357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187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Sampling rate must capture the frequency range of interest.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2697" y="8625994"/>
            <a:ext cx="17320510" cy="63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944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Sampling digitises  •  filtering removes noise  •  windowing reduces leakage  •  spectrum exposes strengths  •  comparison creates a threshold or model-based decision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09 • CONDITION-AWARE MEASUREMENT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WHY DHT11?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47750" y="2667000"/>
            <a:ext cx="3429000" cy="781050"/>
            <a:chOff x="0" y="0"/>
            <a:chExt cx="4572000" cy="1041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72000" cy="1041400"/>
            </a:xfrm>
            <a:custGeom>
              <a:avLst/>
              <a:gdLst/>
              <a:ahLst/>
              <a:cxnLst/>
              <a:rect l="l" t="t" r="r" b="b"/>
              <a:pathLst>
                <a:path w="4572000" h="10414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992011"/>
                  </a:lnTo>
                  <a:cubicBezTo>
                    <a:pt x="4572000" y="1019288"/>
                    <a:pt x="4549888" y="1041400"/>
                    <a:pt x="4522611" y="1041400"/>
                  </a:cubicBezTo>
                  <a:lnTo>
                    <a:pt x="49389" y="1041400"/>
                  </a:lnTo>
                  <a:cubicBezTo>
                    <a:pt x="22112" y="1041400"/>
                    <a:pt x="0" y="1019288"/>
                    <a:pt x="0" y="9920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572000" cy="1041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VIBRATION DATA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476750" y="3057525"/>
            <a:ext cx="2381250" cy="1895475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47750" y="3905250"/>
            <a:ext cx="3429000" cy="781050"/>
            <a:chOff x="0" y="0"/>
            <a:chExt cx="4572000" cy="1041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0" cy="1041400"/>
            </a:xfrm>
            <a:custGeom>
              <a:avLst/>
              <a:gdLst/>
              <a:ahLst/>
              <a:cxnLst/>
              <a:rect l="l" t="t" r="r" b="b"/>
              <a:pathLst>
                <a:path w="4572000" h="10414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992011"/>
                  </a:lnTo>
                  <a:cubicBezTo>
                    <a:pt x="4572000" y="1019288"/>
                    <a:pt x="4549888" y="1041400"/>
                    <a:pt x="4522611" y="1041400"/>
                  </a:cubicBezTo>
                  <a:lnTo>
                    <a:pt x="49389" y="1041400"/>
                  </a:lnTo>
                  <a:cubicBezTo>
                    <a:pt x="22112" y="1041400"/>
                    <a:pt x="0" y="1019288"/>
                    <a:pt x="0" y="9920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572000" cy="1041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TEMPERATURE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4476750" y="4295775"/>
            <a:ext cx="2381250" cy="657225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047750" y="5143500"/>
            <a:ext cx="3429000" cy="781050"/>
            <a:chOff x="0" y="0"/>
            <a:chExt cx="4572000" cy="1041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72000" cy="1041400"/>
            </a:xfrm>
            <a:custGeom>
              <a:avLst/>
              <a:gdLst/>
              <a:ahLst/>
              <a:cxnLst/>
              <a:rect l="l" t="t" r="r" b="b"/>
              <a:pathLst>
                <a:path w="4572000" h="10414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992011"/>
                  </a:lnTo>
                  <a:cubicBezTo>
                    <a:pt x="4572000" y="1019288"/>
                    <a:pt x="4549888" y="1041400"/>
                    <a:pt x="4522611" y="1041400"/>
                  </a:cubicBezTo>
                  <a:lnTo>
                    <a:pt x="49389" y="1041400"/>
                  </a:lnTo>
                  <a:cubicBezTo>
                    <a:pt x="22112" y="1041400"/>
                    <a:pt x="0" y="1019288"/>
                    <a:pt x="0" y="9920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4572000" cy="1041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38"/>
                </a:lnSpc>
              </a:pPr>
              <a:r>
                <a:rPr lang="en-US" sz="1425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HUMIDITY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4476750" y="4953000"/>
            <a:ext cx="2381250" cy="581025"/>
          </a:xfrm>
          <a:prstGeom prst="line">
            <a:avLst/>
          </a:prstGeom>
          <a:ln w="28575" cap="rnd">
            <a:solidFill>
              <a:srgbClr val="91AA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6858000" y="3905250"/>
            <a:ext cx="3714750" cy="1905000"/>
            <a:chOff x="0" y="0"/>
            <a:chExt cx="4953000" cy="254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53000" cy="2540000"/>
            </a:xfrm>
            <a:custGeom>
              <a:avLst/>
              <a:gdLst/>
              <a:ahLst/>
              <a:cxnLst/>
              <a:rect l="l" t="t" r="r" b="b"/>
              <a:pathLst>
                <a:path w="4953000" h="2540000">
                  <a:moveTo>
                    <a:pt x="45590" y="0"/>
                  </a:moveTo>
                  <a:lnTo>
                    <a:pt x="4907410" y="0"/>
                  </a:lnTo>
                  <a:cubicBezTo>
                    <a:pt x="4932589" y="0"/>
                    <a:pt x="4953000" y="20411"/>
                    <a:pt x="4953000" y="45590"/>
                  </a:cubicBezTo>
                  <a:lnTo>
                    <a:pt x="4953000" y="2494410"/>
                  </a:lnTo>
                  <a:cubicBezTo>
                    <a:pt x="4953000" y="2519589"/>
                    <a:pt x="4932589" y="2540000"/>
                    <a:pt x="4907410" y="2540000"/>
                  </a:cubicBezTo>
                  <a:lnTo>
                    <a:pt x="45590" y="2540000"/>
                  </a:lnTo>
                  <a:cubicBezTo>
                    <a:pt x="20411" y="2540000"/>
                    <a:pt x="0" y="2519589"/>
                    <a:pt x="0" y="2494410"/>
                  </a:cubicBezTo>
                  <a:lnTo>
                    <a:pt x="0" y="45590"/>
                  </a:lnTo>
                  <a:cubicBezTo>
                    <a:pt x="0" y="20411"/>
                    <a:pt x="20411" y="0"/>
                    <a:pt x="45590" y="0"/>
                  </a:cubicBez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953000" cy="2540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210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CONDITION-AWARE</a:t>
              </a:r>
            </a:p>
            <a:p>
              <a:pPr algn="ctr">
                <a:lnSpc>
                  <a:spcPts val="2415"/>
                </a:lnSpc>
              </a:pPr>
              <a:r>
                <a:rPr lang="en-US" sz="210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DATASET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0572750" y="4953000"/>
            <a:ext cx="1524000" cy="0"/>
          </a:xfrm>
          <a:prstGeom prst="line">
            <a:avLst/>
          </a:prstGeom>
          <a:ln w="28575" cap="rnd">
            <a:solidFill>
              <a:srgbClr val="27E6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2096750" y="4000500"/>
            <a:ext cx="4762500" cy="1905000"/>
            <a:chOff x="0" y="0"/>
            <a:chExt cx="6350000" cy="254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2504440"/>
                  </a:lnTo>
                  <a:cubicBezTo>
                    <a:pt x="6350000" y="2513871"/>
                    <a:pt x="6346253" y="2522916"/>
                    <a:pt x="6339585" y="2529585"/>
                  </a:cubicBezTo>
                  <a:cubicBezTo>
                    <a:pt x="6332916" y="2536254"/>
                    <a:pt x="6323871" y="2540000"/>
                    <a:pt x="6314440" y="2540000"/>
                  </a:cubicBezTo>
                  <a:lnTo>
                    <a:pt x="35560" y="2540000"/>
                  </a:lnTo>
                  <a:cubicBezTo>
                    <a:pt x="15921" y="2540000"/>
                    <a:pt x="0" y="2524079"/>
                    <a:pt x="0" y="2504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6350000" cy="253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2"/>
                </a:lnSpc>
              </a:pPr>
              <a:r>
                <a:rPr lang="en-US" sz="19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CALIBRATION /</a:t>
              </a:r>
            </a:p>
            <a:p>
              <a:pPr algn="ctr">
                <a:lnSpc>
                  <a:spcPts val="2242"/>
                </a:lnSpc>
              </a:pPr>
              <a:r>
                <a:rPr lang="en-US" sz="1950" b="1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COMPENSATION MODEL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25923" y="7400925"/>
            <a:ext cx="619125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DHT11  temperature + humidity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86000" y="8582025"/>
            <a:ext cx="137160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C85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Context aids future calibration — it does not automatically remove false positives.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00062"/>
            <a:ext cx="16573500" cy="1195388"/>
            <a:chOff x="0" y="-19050"/>
            <a:chExt cx="22098000" cy="1593850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9118600" cy="2906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500" b="1" spc="96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10 • HARDWARE → FUNCTION → ENGINEERING VALUE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EVERY COMPONENT HAS A PURPOSE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2428875"/>
            <a:ext cx="16573500" cy="685800"/>
            <a:chOff x="0" y="0"/>
            <a:chExt cx="220980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98000" cy="914400"/>
            </a:xfrm>
            <a:custGeom>
              <a:avLst/>
              <a:gdLst/>
              <a:ahLst/>
              <a:cxnLst/>
              <a:rect l="l" t="t" r="r" b="b"/>
              <a:pathLst>
                <a:path w="22098000" h="914400">
                  <a:moveTo>
                    <a:pt x="0" y="0"/>
                  </a:moveTo>
                  <a:lnTo>
                    <a:pt x="22098000" y="0"/>
                  </a:lnTo>
                  <a:lnTo>
                    <a:pt x="22098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098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250" y="3267075"/>
            <a:ext cx="16573500" cy="685800"/>
            <a:chOff x="0" y="0"/>
            <a:chExt cx="22098000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98000" cy="914400"/>
            </a:xfrm>
            <a:custGeom>
              <a:avLst/>
              <a:gdLst/>
              <a:ahLst/>
              <a:cxnLst/>
              <a:rect l="l" t="t" r="r" b="b"/>
              <a:pathLst>
                <a:path w="22098000" h="914400">
                  <a:moveTo>
                    <a:pt x="0" y="0"/>
                  </a:moveTo>
                  <a:lnTo>
                    <a:pt x="22098000" y="0"/>
                  </a:lnTo>
                  <a:lnTo>
                    <a:pt x="22098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98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7250" y="4105275"/>
            <a:ext cx="16573500" cy="685800"/>
            <a:chOff x="0" y="0"/>
            <a:chExt cx="220980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98000" cy="914400"/>
            </a:xfrm>
            <a:custGeom>
              <a:avLst/>
              <a:gdLst/>
              <a:ahLst/>
              <a:cxnLst/>
              <a:rect l="l" t="t" r="r" b="b"/>
              <a:pathLst>
                <a:path w="22098000" h="914400">
                  <a:moveTo>
                    <a:pt x="0" y="0"/>
                  </a:moveTo>
                  <a:lnTo>
                    <a:pt x="22098000" y="0"/>
                  </a:lnTo>
                  <a:lnTo>
                    <a:pt x="22098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098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4943475"/>
            <a:ext cx="16573500" cy="685800"/>
            <a:chOff x="0" y="0"/>
            <a:chExt cx="2209800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98000" cy="914400"/>
            </a:xfrm>
            <a:custGeom>
              <a:avLst/>
              <a:gdLst/>
              <a:ahLst/>
              <a:cxnLst/>
              <a:rect l="l" t="t" r="r" b="b"/>
              <a:pathLst>
                <a:path w="22098000" h="914400">
                  <a:moveTo>
                    <a:pt x="0" y="0"/>
                  </a:moveTo>
                  <a:lnTo>
                    <a:pt x="22098000" y="0"/>
                  </a:lnTo>
                  <a:lnTo>
                    <a:pt x="22098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098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" y="5781675"/>
            <a:ext cx="16573500" cy="685800"/>
            <a:chOff x="0" y="0"/>
            <a:chExt cx="2209800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98000" cy="914400"/>
            </a:xfrm>
            <a:custGeom>
              <a:avLst/>
              <a:gdLst/>
              <a:ahLst/>
              <a:cxnLst/>
              <a:rect l="l" t="t" r="r" b="b"/>
              <a:pathLst>
                <a:path w="22098000" h="914400">
                  <a:moveTo>
                    <a:pt x="0" y="0"/>
                  </a:moveTo>
                  <a:lnTo>
                    <a:pt x="22098000" y="0"/>
                  </a:lnTo>
                  <a:lnTo>
                    <a:pt x="22098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02A40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098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619875"/>
            <a:ext cx="16573500" cy="685800"/>
            <a:chOff x="0" y="0"/>
            <a:chExt cx="220980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098000" cy="914400"/>
            </a:xfrm>
            <a:custGeom>
              <a:avLst/>
              <a:gdLst/>
              <a:ahLst/>
              <a:cxnLst/>
              <a:rect l="l" t="t" r="r" b="b"/>
              <a:pathLst>
                <a:path w="22098000" h="914400">
                  <a:moveTo>
                    <a:pt x="0" y="0"/>
                  </a:moveTo>
                  <a:lnTo>
                    <a:pt x="22098000" y="0"/>
                  </a:lnTo>
                  <a:lnTo>
                    <a:pt x="22098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098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43000" y="2581275"/>
            <a:ext cx="3714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ESP32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34000" y="258127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 control + communication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82500" y="2581275"/>
            <a:ext cx="4381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IoT / automation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3000" y="3419475"/>
            <a:ext cx="3714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ADXL345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34000" y="341947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Vibration measurement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82500" y="3419475"/>
            <a:ext cx="4381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Condition monitoring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000" y="4257675"/>
            <a:ext cx="3714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Servo motor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34000" y="425767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Controlled excitation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82500" y="4257675"/>
            <a:ext cx="4381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Robotics / actuation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000" y="5095875"/>
            <a:ext cx="3714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Potentiometer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34000" y="509587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Profile selection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82500" y="5095875"/>
            <a:ext cx="4381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Analogue interface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3000" y="5934075"/>
            <a:ext cx="3714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LCD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34000" y="593407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Status, result, alert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82500" y="5934075"/>
            <a:ext cx="4381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Human–machine interface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3000" y="6772275"/>
            <a:ext cx="3714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DHT11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34000" y="677227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T, RH and pressure context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382500" y="6772275"/>
            <a:ext cx="4381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Environmental sensing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92919"/>
            <a:ext cx="16573500" cy="1202531"/>
            <a:chOff x="0" y="-28575"/>
            <a:chExt cx="22098000" cy="1603375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18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14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11 • THE INNOVATION IS THE INTEGRATION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WHAT MAKES OUR SYSTEM INNOVATIVE?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2381250"/>
            <a:ext cx="5143500" cy="2333625"/>
            <a:chOff x="0" y="0"/>
            <a:chExt cx="6858000" cy="3111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0" cy="3111500"/>
            </a:xfrm>
            <a:custGeom>
              <a:avLst/>
              <a:gdLst/>
              <a:ahLst/>
              <a:cxnLst/>
              <a:rect l="l" t="t" r="r" b="b"/>
              <a:pathLst>
                <a:path w="6858000" h="3111500">
                  <a:moveTo>
                    <a:pt x="0" y="0"/>
                  </a:moveTo>
                  <a:lnTo>
                    <a:pt x="6858000" y="0"/>
                  </a:lnTo>
                  <a:lnTo>
                    <a:pt x="6858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858000" cy="314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77000" y="2381250"/>
            <a:ext cx="5143500" cy="2333625"/>
            <a:chOff x="0" y="0"/>
            <a:chExt cx="6858000" cy="3111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58000" cy="3111500"/>
            </a:xfrm>
            <a:custGeom>
              <a:avLst/>
              <a:gdLst/>
              <a:ahLst/>
              <a:cxnLst/>
              <a:rect l="l" t="t" r="r" b="b"/>
              <a:pathLst>
                <a:path w="6858000" h="3111500">
                  <a:moveTo>
                    <a:pt x="0" y="0"/>
                  </a:moveTo>
                  <a:lnTo>
                    <a:pt x="6858000" y="0"/>
                  </a:lnTo>
                  <a:lnTo>
                    <a:pt x="6858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858000" cy="314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96750" y="2381250"/>
            <a:ext cx="5143500" cy="2333625"/>
            <a:chOff x="0" y="0"/>
            <a:chExt cx="6858000" cy="3111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3111500"/>
            </a:xfrm>
            <a:custGeom>
              <a:avLst/>
              <a:gdLst/>
              <a:ahLst/>
              <a:cxnLst/>
              <a:rect l="l" t="t" r="r" b="b"/>
              <a:pathLst>
                <a:path w="6858000" h="3111500">
                  <a:moveTo>
                    <a:pt x="0" y="0"/>
                  </a:moveTo>
                  <a:lnTo>
                    <a:pt x="6858000" y="0"/>
                  </a:lnTo>
                  <a:lnTo>
                    <a:pt x="6858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858000" cy="314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5238750"/>
            <a:ext cx="5143500" cy="2333625"/>
            <a:chOff x="0" y="0"/>
            <a:chExt cx="6858000" cy="311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58000" cy="3111500"/>
            </a:xfrm>
            <a:custGeom>
              <a:avLst/>
              <a:gdLst/>
              <a:ahLst/>
              <a:cxnLst/>
              <a:rect l="l" t="t" r="r" b="b"/>
              <a:pathLst>
                <a:path w="6858000" h="3111500">
                  <a:moveTo>
                    <a:pt x="0" y="0"/>
                  </a:moveTo>
                  <a:lnTo>
                    <a:pt x="6858000" y="0"/>
                  </a:lnTo>
                  <a:lnTo>
                    <a:pt x="6858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858000" cy="314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77000" y="5238750"/>
            <a:ext cx="5143500" cy="2333625"/>
            <a:chOff x="0" y="0"/>
            <a:chExt cx="6858000" cy="3111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58000" cy="3111500"/>
            </a:xfrm>
            <a:custGeom>
              <a:avLst/>
              <a:gdLst/>
              <a:ahLst/>
              <a:cxnLst/>
              <a:rect l="l" t="t" r="r" b="b"/>
              <a:pathLst>
                <a:path w="6858000" h="3111500">
                  <a:moveTo>
                    <a:pt x="0" y="0"/>
                  </a:moveTo>
                  <a:lnTo>
                    <a:pt x="6858000" y="0"/>
                  </a:lnTo>
                  <a:lnTo>
                    <a:pt x="6858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858000" cy="314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96750" y="5238750"/>
            <a:ext cx="5143500" cy="2333625"/>
            <a:chOff x="0" y="0"/>
            <a:chExt cx="6858000" cy="3111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58000" cy="3111500"/>
            </a:xfrm>
            <a:custGeom>
              <a:avLst/>
              <a:gdLst/>
              <a:ahLst/>
              <a:cxnLst/>
              <a:rect l="l" t="t" r="r" b="b"/>
              <a:pathLst>
                <a:path w="6858000" h="3111500">
                  <a:moveTo>
                    <a:pt x="0" y="0"/>
                  </a:moveTo>
                  <a:lnTo>
                    <a:pt x="6858000" y="0"/>
                  </a:lnTo>
                  <a:lnTo>
                    <a:pt x="6858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858000" cy="314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3950" y="2524125"/>
            <a:ext cx="7620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3950" y="3181350"/>
            <a:ext cx="4572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CONTROLLED EXCITATION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3950" y="3752850"/>
            <a:ext cx="43815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Automated, repeatable impact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43700" y="2524125"/>
            <a:ext cx="7620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43700" y="3181350"/>
            <a:ext cx="4572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DIGITAL SIGNATURE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43700" y="3752850"/>
            <a:ext cx="43815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Physical response becomes data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63450" y="2524125"/>
            <a:ext cx="7620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63450" y="3181350"/>
            <a:ext cx="4572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FFT ANALYSIS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63450" y="3752850"/>
            <a:ext cx="43815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Comparable frequency features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3950" y="5381625"/>
            <a:ext cx="7620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3950" y="6038850"/>
            <a:ext cx="4572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ENVIRONMENTAL CONTEXT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3950" y="6610350"/>
            <a:ext cx="43815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Conditions recorded per test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43700" y="5381625"/>
            <a:ext cx="7620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43700" y="6038850"/>
            <a:ext cx="4572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EMBEDDED AUTOMATION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43700" y="6610350"/>
            <a:ext cx="43815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ESP32 coordinates the system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63450" y="5381625"/>
            <a:ext cx="7620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63450" y="6038850"/>
            <a:ext cx="4572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SAFETY INTERLOCKS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363450" y="6610350"/>
            <a:ext cx="43815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Physical conditions gate testing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14500" y="8448675"/>
            <a:ext cx="14859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MECHANICS + SENSORS + EMBEDDED CONTROL + DSP + CONTEXT + ANOMALY DETECTION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92919"/>
            <a:ext cx="16573500" cy="1202531"/>
            <a:chOff x="0" y="-28575"/>
            <a:chExt cx="22098000" cy="1603375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8813800" cy="3088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500" b="1" spc="108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12 • BUILT FOR ACCESSIBLE EXPERIMENTATION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BENEFITS &amp; ADVANTAGES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2476500"/>
            <a:ext cx="3857625" cy="1952625"/>
            <a:chOff x="0" y="0"/>
            <a:chExt cx="5143500" cy="260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43500" cy="2603500"/>
            </a:xfrm>
            <a:custGeom>
              <a:avLst/>
              <a:gdLst/>
              <a:ahLst/>
              <a:cxnLst/>
              <a:rect l="l" t="t" r="r" b="b"/>
              <a:pathLst>
                <a:path w="5143500" h="2603500">
                  <a:moveTo>
                    <a:pt x="0" y="0"/>
                  </a:moveTo>
                  <a:lnTo>
                    <a:pt x="5143500" y="0"/>
                  </a:lnTo>
                  <a:lnTo>
                    <a:pt x="51435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1435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95875" y="2476500"/>
            <a:ext cx="3857625" cy="1952625"/>
            <a:chOff x="0" y="0"/>
            <a:chExt cx="5143500" cy="2603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43500" cy="2603500"/>
            </a:xfrm>
            <a:custGeom>
              <a:avLst/>
              <a:gdLst/>
              <a:ahLst/>
              <a:cxnLst/>
              <a:rect l="l" t="t" r="r" b="b"/>
              <a:pathLst>
                <a:path w="5143500" h="2603500">
                  <a:moveTo>
                    <a:pt x="0" y="0"/>
                  </a:moveTo>
                  <a:lnTo>
                    <a:pt x="5143500" y="0"/>
                  </a:lnTo>
                  <a:lnTo>
                    <a:pt x="51435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1435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34500" y="2476500"/>
            <a:ext cx="3857625" cy="1952625"/>
            <a:chOff x="0" y="0"/>
            <a:chExt cx="5143500" cy="2603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43500" cy="2603500"/>
            </a:xfrm>
            <a:custGeom>
              <a:avLst/>
              <a:gdLst/>
              <a:ahLst/>
              <a:cxnLst/>
              <a:rect l="l" t="t" r="r" b="b"/>
              <a:pathLst>
                <a:path w="5143500" h="2603500">
                  <a:moveTo>
                    <a:pt x="0" y="0"/>
                  </a:moveTo>
                  <a:lnTo>
                    <a:pt x="5143500" y="0"/>
                  </a:lnTo>
                  <a:lnTo>
                    <a:pt x="51435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1435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73125" y="2476500"/>
            <a:ext cx="3857625" cy="1952625"/>
            <a:chOff x="0" y="0"/>
            <a:chExt cx="5143500" cy="2603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43500" cy="2603500"/>
            </a:xfrm>
            <a:custGeom>
              <a:avLst/>
              <a:gdLst/>
              <a:ahLst/>
              <a:cxnLst/>
              <a:rect l="l" t="t" r="r" b="b"/>
              <a:pathLst>
                <a:path w="5143500" h="2603500">
                  <a:moveTo>
                    <a:pt x="0" y="0"/>
                  </a:moveTo>
                  <a:lnTo>
                    <a:pt x="5143500" y="0"/>
                  </a:lnTo>
                  <a:lnTo>
                    <a:pt x="51435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1435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28750" y="4953000"/>
            <a:ext cx="5143500" cy="1952625"/>
            <a:chOff x="0" y="0"/>
            <a:chExt cx="6858000" cy="2603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58000" cy="2603500"/>
            </a:xfrm>
            <a:custGeom>
              <a:avLst/>
              <a:gdLst/>
              <a:ahLst/>
              <a:cxnLst/>
              <a:rect l="l" t="t" r="r" b="b"/>
              <a:pathLst>
                <a:path w="6858000" h="2603500">
                  <a:moveTo>
                    <a:pt x="0" y="0"/>
                  </a:moveTo>
                  <a:lnTo>
                    <a:pt x="6858000" y="0"/>
                  </a:lnTo>
                  <a:lnTo>
                    <a:pt x="6858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8580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0" y="4953000"/>
            <a:ext cx="5143500" cy="1952625"/>
            <a:chOff x="0" y="0"/>
            <a:chExt cx="6858000" cy="2603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58000" cy="2603500"/>
            </a:xfrm>
            <a:custGeom>
              <a:avLst/>
              <a:gdLst/>
              <a:ahLst/>
              <a:cxnLst/>
              <a:rect l="l" t="t" r="r" b="b"/>
              <a:pathLst>
                <a:path w="6858000" h="2603500">
                  <a:moveTo>
                    <a:pt x="0" y="0"/>
                  </a:moveTo>
                  <a:lnTo>
                    <a:pt x="6858000" y="0"/>
                  </a:lnTo>
                  <a:lnTo>
                    <a:pt x="6858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8580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87250" y="4953000"/>
            <a:ext cx="5143500" cy="1952625"/>
            <a:chOff x="0" y="0"/>
            <a:chExt cx="6858000" cy="2603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58000" cy="2603500"/>
            </a:xfrm>
            <a:custGeom>
              <a:avLst/>
              <a:gdLst/>
              <a:ahLst/>
              <a:cxnLst/>
              <a:rect l="l" t="t" r="r" b="b"/>
              <a:pathLst>
                <a:path w="6858000" h="2603500">
                  <a:moveTo>
                    <a:pt x="0" y="0"/>
                  </a:moveTo>
                  <a:lnTo>
                    <a:pt x="6858000" y="0"/>
                  </a:lnTo>
                  <a:lnTo>
                    <a:pt x="6858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8580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3950" y="2781300"/>
            <a:ext cx="3324225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LOW COST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3950" y="3467100"/>
            <a:ext cx="3324225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Affordable prototype hardware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62575" y="2781300"/>
            <a:ext cx="3324225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AUTOMATED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62575" y="3467100"/>
            <a:ext cx="3324225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Less manual intervention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01200" y="2781300"/>
            <a:ext cx="3324225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REPEATABLE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01200" y="3467100"/>
            <a:ext cx="3324225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Controlled excitation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839825" y="2781300"/>
            <a:ext cx="3324225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FAST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839825" y="3467100"/>
            <a:ext cx="3324225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 capture + processing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95450" y="5257800"/>
            <a:ext cx="4610100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PORTABLE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95450" y="5943600"/>
            <a:ext cx="46101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Compact desktop potential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24700" y="5257800"/>
            <a:ext cx="4610100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DATA-DRIVEN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4700" y="5943600"/>
            <a:ext cx="46101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Measurable signatures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53950" y="5257800"/>
            <a:ext cx="4610100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SCALABLE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553950" y="5943600"/>
            <a:ext cx="4610100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Upgradeable sensing + AI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57250" y="7810500"/>
            <a:ext cx="16573500" cy="1143000"/>
            <a:chOff x="0" y="0"/>
            <a:chExt cx="22098000" cy="1524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2098000" cy="1524000"/>
            </a:xfrm>
            <a:custGeom>
              <a:avLst/>
              <a:gdLst/>
              <a:ahLst/>
              <a:cxnLst/>
              <a:rect l="l" t="t" r="r" b="b"/>
              <a:pathLst>
                <a:path w="22098000" h="1524000">
                  <a:moveTo>
                    <a:pt x="0" y="0"/>
                  </a:moveTo>
                  <a:lnTo>
                    <a:pt x="22098000" y="0"/>
                  </a:lnTo>
                  <a:lnTo>
                    <a:pt x="2209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7E6FF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209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428750" y="8105775"/>
            <a:ext cx="1543050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1">
                <a:solidFill>
                  <a:srgbClr val="02070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ECE + EMBEDDED SYSTEMS + SENSORS + CONTROL + DSP + FFT + AI / ML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72500" y="0"/>
            <a:ext cx="9715500" cy="10287000"/>
          </a:xfrm>
          <a:custGeom>
            <a:avLst/>
            <a:gdLst/>
            <a:ahLst/>
            <a:cxnLst/>
            <a:rect l="l" t="t" r="r" b="b"/>
            <a:pathLst>
              <a:path w="9715500" h="10287000">
                <a:moveTo>
                  <a:pt x="0" y="0"/>
                </a:moveTo>
                <a:lnTo>
                  <a:pt x="9715500" y="0"/>
                </a:lnTo>
                <a:lnTo>
                  <a:pt x="9715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117" r="-44117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7239000" y="0"/>
            <a:ext cx="5905500" cy="10287000"/>
            <a:chOff x="0" y="0"/>
            <a:chExt cx="787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74000" cy="13716000"/>
            </a:xfrm>
            <a:custGeom>
              <a:avLst/>
              <a:gdLst/>
              <a:ahLst/>
              <a:cxnLst/>
              <a:rect l="l" t="t" r="r" b="b"/>
              <a:pathLst>
                <a:path w="7874000" h="13716000">
                  <a:moveTo>
                    <a:pt x="0" y="0"/>
                  </a:moveTo>
                  <a:lnTo>
                    <a:pt x="7874000" y="0"/>
                  </a:lnTo>
                  <a:lnTo>
                    <a:pt x="787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2070D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87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13 • FROM LAB BENCH TO SMART FACTORY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REAL-WORLD APPLICATIONS</a:t>
              </a:r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47750" y="229552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01  Manufacturing quality screening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750" y="307657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02  Machine condition monitoring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750" y="385762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03  Structural response research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7750" y="463867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91AAB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  Material deviation screening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750" y="541972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91AAB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  Small workshops &amp; labs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750" y="620077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91AAB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 Educational NDT demonstrations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750" y="698182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91AAB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07  Future smart-factory integration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750" y="8020050"/>
            <a:ext cx="723900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FFC85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EXPERIMENTAL SCREENING PLATFORM — NOT A CERTIFIED REPLACEMENT FOR INDUSTRIAL NDT.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92919"/>
            <a:ext cx="16573500" cy="1202531"/>
            <a:chOff x="0" y="-28575"/>
            <a:chExt cx="22098000" cy="1603375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14 • PROTOTYPE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425"/>
              <a:ext cx="19050000" cy="752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 dirty="0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PROTOTYPE PHOTO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15 / 18</a:t>
            </a:r>
          </a:p>
        </p:txBody>
      </p:sp>
      <p:pic>
        <p:nvPicPr>
          <p:cNvPr id="37" name="Picture 36" descr="The image shows a person holding a soldering iron, working on a circuit board connected to a laptop, with a USB cable plugged in, and a small printed circuit board (PCB) on a wooden surface.&#10;&#10;AI-generated content may be incorrect.">
            <a:extLst>
              <a:ext uri="{FF2B5EF4-FFF2-40B4-BE49-F238E27FC236}">
                <a16:creationId xmlns:a16="http://schemas.microsoft.com/office/drawing/2014/main" id="{3EBA8BCB-45F2-377B-1DF7-E7136FF2A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5" b="7391"/>
          <a:stretch>
            <a:fillRect/>
          </a:stretch>
        </p:blipFill>
        <p:spPr>
          <a:xfrm>
            <a:off x="914400" y="1973794"/>
            <a:ext cx="8106536" cy="5714785"/>
          </a:xfrm>
          <a:prstGeom prst="rect">
            <a:avLst/>
          </a:prstGeom>
        </p:spPr>
      </p:pic>
      <p:pic>
        <p:nvPicPr>
          <p:cNvPr id="46" name="Picture 45" descr="The image illustrates a meticulously organized workstation showcasing the integration of an ADXL345 accelerometer, fine-tuned servo motor, and an ESP32 board, emphasizing the importance of signal integrity, mechanical calibration, and a stable hardware-software interface for accurate data capture and real-time visualization.&#10;&#10;AI-generated content may be incorrect.">
            <a:extLst>
              <a:ext uri="{FF2B5EF4-FFF2-40B4-BE49-F238E27FC236}">
                <a16:creationId xmlns:a16="http://schemas.microsoft.com/office/drawing/2014/main" id="{C4CEE3E3-DE2C-7F43-4DEE-2FBC20660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066" y="2826146"/>
            <a:ext cx="8457185" cy="4010079"/>
          </a:xfrm>
          <a:prstGeom prst="rect">
            <a:avLst/>
          </a:prstGeom>
        </p:spPr>
      </p:pic>
      <p:grpSp>
        <p:nvGrpSpPr>
          <p:cNvPr id="47" name="Group 41">
            <a:extLst>
              <a:ext uri="{FF2B5EF4-FFF2-40B4-BE49-F238E27FC236}">
                <a16:creationId xmlns:a16="http://schemas.microsoft.com/office/drawing/2014/main" id="{BF0D5F55-BBF3-5834-8EBA-C136DCFB9AA1}"/>
              </a:ext>
            </a:extLst>
          </p:cNvPr>
          <p:cNvGrpSpPr/>
          <p:nvPr/>
        </p:nvGrpSpPr>
        <p:grpSpPr>
          <a:xfrm>
            <a:off x="857250" y="8261090"/>
            <a:ext cx="16573500" cy="972423"/>
            <a:chOff x="0" y="0"/>
            <a:chExt cx="22098000" cy="1524000"/>
          </a:xfrm>
        </p:grpSpPr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385350C6-C3DC-06CA-90DD-7EC6FEB8A9B2}"/>
                </a:ext>
              </a:extLst>
            </p:cNvPr>
            <p:cNvSpPr/>
            <p:nvPr/>
          </p:nvSpPr>
          <p:spPr>
            <a:xfrm>
              <a:off x="0" y="0"/>
              <a:ext cx="22098000" cy="1524000"/>
            </a:xfrm>
            <a:custGeom>
              <a:avLst/>
              <a:gdLst/>
              <a:ahLst/>
              <a:cxnLst/>
              <a:rect l="l" t="t" r="r" b="b"/>
              <a:pathLst>
                <a:path w="22098000" h="1524000">
                  <a:moveTo>
                    <a:pt x="0" y="0"/>
                  </a:moveTo>
                  <a:lnTo>
                    <a:pt x="22098000" y="0"/>
                  </a:lnTo>
                  <a:lnTo>
                    <a:pt x="2209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7E6FF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43">
              <a:extLst>
                <a:ext uri="{FF2B5EF4-FFF2-40B4-BE49-F238E27FC236}">
                  <a16:creationId xmlns:a16="http://schemas.microsoft.com/office/drawing/2014/main" id="{9C50FC5C-05B1-D0F0-D419-D7C6A88D650A}"/>
                </a:ext>
              </a:extLst>
            </p:cNvPr>
            <p:cNvSpPr txBox="1"/>
            <p:nvPr/>
          </p:nvSpPr>
          <p:spPr>
            <a:xfrm>
              <a:off x="0" y="-38100"/>
              <a:ext cx="2209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" name="TextBox 31">
            <a:extLst>
              <a:ext uri="{FF2B5EF4-FFF2-40B4-BE49-F238E27FC236}">
                <a16:creationId xmlns:a16="http://schemas.microsoft.com/office/drawing/2014/main" id="{FBDEF85D-E6F7-D518-6A7F-F645E12087B1}"/>
              </a:ext>
            </a:extLst>
          </p:cNvPr>
          <p:cNvSpPr txBox="1"/>
          <p:nvPr/>
        </p:nvSpPr>
        <p:spPr>
          <a:xfrm>
            <a:off x="4504566" y="8464975"/>
            <a:ext cx="9525000" cy="540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5"/>
              </a:lnSpc>
            </a:pPr>
            <a:r>
              <a:rPr lang="en-US" sz="3225" b="1" dirty="0">
                <a:solidFill>
                  <a:schemeClr val="bg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PROTOTYPE CREATION!!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626D-2149-9011-5EA3-CD315934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73A1FD-67E3-C68B-05D0-E86A00596392}"/>
              </a:ext>
            </a:extLst>
          </p:cNvPr>
          <p:cNvGrpSpPr/>
          <p:nvPr/>
        </p:nvGrpSpPr>
        <p:grpSpPr>
          <a:xfrm>
            <a:off x="857250" y="492919"/>
            <a:ext cx="16573500" cy="1202531"/>
            <a:chOff x="0" y="-28575"/>
            <a:chExt cx="22098000" cy="1603375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18E12681-558B-601D-D70C-61AC541D2C5B}"/>
                </a:ext>
              </a:extLst>
            </p:cNvPr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15 • RESULTS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D75EF5A-8A79-9A2C-7265-008D3F9F411D}"/>
                </a:ext>
              </a:extLst>
            </p:cNvPr>
            <p:cNvSpPr txBox="1"/>
            <p:nvPr/>
          </p:nvSpPr>
          <p:spPr>
            <a:xfrm>
              <a:off x="0" y="479425"/>
              <a:ext cx="19050000" cy="752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 dirty="0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RESULTS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0BE00F46-6DC1-4EAC-9A0D-C1BA7A2D7F2C}"/>
                </a:ext>
              </a:extLst>
            </p:cNvPr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A7E10699-3F07-315D-9068-A88C8E38E7BE}"/>
              </a:ext>
            </a:extLst>
          </p:cNvPr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16 / 18</a:t>
            </a:r>
          </a:p>
        </p:txBody>
      </p:sp>
      <p:pic>
        <p:nvPicPr>
          <p:cNvPr id="34" name="Picture 33" descr="The image shows a terminal window displaying a Python script's execution output, which includes information about connecting to an ESP32 device, running a servo test, and reporting sensor data such as temperature and humidity.&#10;&#10;AI-generated content may be incorrect.">
            <a:extLst>
              <a:ext uri="{FF2B5EF4-FFF2-40B4-BE49-F238E27FC236}">
                <a16:creationId xmlns:a16="http://schemas.microsoft.com/office/drawing/2014/main" id="{9CCBFF96-A69C-D3F7-E8F1-1DE0CF213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" t="12319" r="20130" b="8454"/>
          <a:stretch>
            <a:fillRect/>
          </a:stretch>
        </p:blipFill>
        <p:spPr>
          <a:xfrm>
            <a:off x="9829801" y="2247899"/>
            <a:ext cx="7600950" cy="5589030"/>
          </a:xfrm>
          <a:prstGeom prst="rect">
            <a:avLst/>
          </a:prstGeom>
        </p:spPr>
      </p:pic>
      <p:pic>
        <p:nvPicPr>
          <p:cNvPr id="36" name="Picture 35" descr="The image shows a thermo-acoustic vibration response graph, indicating a baseline with fluctuating vibration levels over time.&#10;&#10;AI-generated content may be incorrect.">
            <a:extLst>
              <a:ext uri="{FF2B5EF4-FFF2-40B4-BE49-F238E27FC236}">
                <a16:creationId xmlns:a16="http://schemas.microsoft.com/office/drawing/2014/main" id="{0CF63D39-956B-4C57-29D7-41958BA30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8" r="2381" b="8315"/>
          <a:stretch>
            <a:fillRect/>
          </a:stretch>
        </p:blipFill>
        <p:spPr>
          <a:xfrm>
            <a:off x="857250" y="1984344"/>
            <a:ext cx="8820150" cy="5852590"/>
          </a:xfrm>
          <a:prstGeom prst="rect">
            <a:avLst/>
          </a:prstGeom>
        </p:spPr>
      </p:pic>
      <p:sp>
        <p:nvSpPr>
          <p:cNvPr id="38" name="TextBox 30">
            <a:extLst>
              <a:ext uri="{FF2B5EF4-FFF2-40B4-BE49-F238E27FC236}">
                <a16:creationId xmlns:a16="http://schemas.microsoft.com/office/drawing/2014/main" id="{3C182FED-6278-149B-5F37-FF9874AAA646}"/>
              </a:ext>
            </a:extLst>
          </p:cNvPr>
          <p:cNvSpPr txBox="1"/>
          <p:nvPr/>
        </p:nvSpPr>
        <p:spPr>
          <a:xfrm>
            <a:off x="1758553" y="8134013"/>
            <a:ext cx="14770894" cy="1279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WHEN THE HAMMER HITS AN OBJECT/METAL, IT DETECTS THE ANOMALY AND INTERNAL DEFECTS PRESENT. THESE PHOTOS SHOWS THE NO OF SAMPLES AND THE FFT GRAPH CONFIGURED DURING THE HAMMER HIT.</a:t>
            </a:r>
          </a:p>
        </p:txBody>
      </p:sp>
    </p:spTree>
    <p:extLst>
      <p:ext uri="{BB962C8B-B14F-4D97-AF65-F5344CB8AC3E}">
        <p14:creationId xmlns:p14="http://schemas.microsoft.com/office/powerpoint/2010/main" val="1577191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322E-C3E0-CB95-5AAF-D5D71219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8461ED-49B8-6C08-428B-7B6BBB4F79D8}"/>
              </a:ext>
            </a:extLst>
          </p:cNvPr>
          <p:cNvGrpSpPr/>
          <p:nvPr/>
        </p:nvGrpSpPr>
        <p:grpSpPr>
          <a:xfrm>
            <a:off x="857250" y="492919"/>
            <a:ext cx="16573500" cy="1202531"/>
            <a:chOff x="0" y="-28575"/>
            <a:chExt cx="22098000" cy="1603375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2F30B310-E5BA-2DE2-8014-1B06ED1B5F57}"/>
                </a:ext>
              </a:extLst>
            </p:cNvPr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16 • RESULTS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8B5FC4-ABEC-DC19-7724-A860BEB19B6B}"/>
                </a:ext>
              </a:extLst>
            </p:cNvPr>
            <p:cNvSpPr txBox="1"/>
            <p:nvPr/>
          </p:nvSpPr>
          <p:spPr>
            <a:xfrm>
              <a:off x="0" y="479425"/>
              <a:ext cx="19050000" cy="752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 dirty="0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RESULTS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5496519E-E469-EC75-DC4F-6438DB0792DB}"/>
                </a:ext>
              </a:extLst>
            </p:cNvPr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AF47B998-84B1-6E97-8002-D98B14A4F35E}"/>
              </a:ext>
            </a:extLst>
          </p:cNvPr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17 / 18</a:t>
            </a:r>
          </a:p>
        </p:txBody>
      </p:sp>
      <p:sp>
        <p:nvSpPr>
          <p:cNvPr id="38" name="TextBox 30">
            <a:extLst>
              <a:ext uri="{FF2B5EF4-FFF2-40B4-BE49-F238E27FC236}">
                <a16:creationId xmlns:a16="http://schemas.microsoft.com/office/drawing/2014/main" id="{74FA2BC1-80D1-37A1-552B-7D71BE348A7C}"/>
              </a:ext>
            </a:extLst>
          </p:cNvPr>
          <p:cNvSpPr txBox="1"/>
          <p:nvPr/>
        </p:nvSpPr>
        <p:spPr>
          <a:xfrm>
            <a:off x="13277850" y="3795991"/>
            <a:ext cx="3733800" cy="3895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WHEN THE HAMMER DOESN’T HIT ANY KIND OF OBJECT OR METAL, IT DOES NOT DETECT ANY DEFECTS, THUS, SHOWING A STRAIGHT GRAPH WITH VERY FEW DISTURBANCES OR ANOMALY DETECTIONS.</a:t>
            </a:r>
          </a:p>
        </p:txBody>
      </p:sp>
      <p:pic>
        <p:nvPicPr>
          <p:cNvPr id="7" name="Picture 6" descr="The image displays a thermo-acoustic vibration response graph with 80 samples, indicating the variation in vibration (in m/s^2) over time (in seconds).&#10;&#10;AI-generated content may be incorrect.">
            <a:extLst>
              <a:ext uri="{FF2B5EF4-FFF2-40B4-BE49-F238E27FC236}">
                <a16:creationId xmlns:a16="http://schemas.microsoft.com/office/drawing/2014/main" id="{CDC08A50-03B8-8418-5B4E-4B39B9F86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" t="5419" r="1746" b="11914"/>
          <a:stretch>
            <a:fillRect/>
          </a:stretch>
        </p:blipFill>
        <p:spPr>
          <a:xfrm>
            <a:off x="857250" y="2019301"/>
            <a:ext cx="12020550" cy="681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2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BCF5-66F0-EA9E-90FD-B7CA02BA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FF85BE2-5DCB-DF1F-E121-7B5575F65619}"/>
              </a:ext>
            </a:extLst>
          </p:cNvPr>
          <p:cNvGrpSpPr/>
          <p:nvPr/>
        </p:nvGrpSpPr>
        <p:grpSpPr>
          <a:xfrm>
            <a:off x="857250" y="514350"/>
            <a:ext cx="16573500" cy="1190625"/>
            <a:chOff x="0" y="0"/>
            <a:chExt cx="22098000" cy="1587500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A2C04EE7-9977-95E1-1118-A6A19B73F72A}"/>
                </a:ext>
              </a:extLst>
            </p:cNvPr>
            <p:cNvSpPr txBox="1"/>
            <p:nvPr/>
          </p:nvSpPr>
          <p:spPr>
            <a:xfrm>
              <a:off x="0" y="-2857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 dirty="0">
                  <a:solidFill>
                    <a:srgbClr val="27E6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17 • FOUR-LEVEL ROADMAP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678552-AFAE-D556-A2E8-E17400B621F1}"/>
                </a:ext>
              </a:extLst>
            </p:cNvPr>
            <p:cNvSpPr txBox="1"/>
            <p:nvPr/>
          </p:nvSpPr>
          <p:spPr>
            <a:xfrm>
              <a:off x="0" y="479425"/>
              <a:ext cx="19050000" cy="871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</a:pPr>
              <a:r>
                <a:rPr lang="en-US" sz="4200" b="1" dirty="0">
                  <a:solidFill>
                    <a:srgbClr val="F4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FROM PROTOTYPE TO SMART INSPECTION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30AD3DE5-35D2-4185-5FAB-FFA0978FCABE}"/>
                </a:ext>
              </a:extLst>
            </p:cNvPr>
            <p:cNvSpPr/>
            <p:nvPr/>
          </p:nvSpPr>
          <p:spPr>
            <a:xfrm>
              <a:off x="0" y="1574800"/>
              <a:ext cx="22098000" cy="0"/>
            </a:xfrm>
            <a:prstGeom prst="line">
              <a:avLst/>
            </a:prstGeom>
            <a:ln w="25400" cap="flat">
              <a:solidFill>
                <a:srgbClr val="2878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AFCC79E-5440-1740-0B15-425D2C8DC409}"/>
              </a:ext>
            </a:extLst>
          </p:cNvPr>
          <p:cNvGrpSpPr/>
          <p:nvPr/>
        </p:nvGrpSpPr>
        <p:grpSpPr>
          <a:xfrm>
            <a:off x="857250" y="2333625"/>
            <a:ext cx="3762375" cy="3714750"/>
            <a:chOff x="0" y="0"/>
            <a:chExt cx="5016500" cy="4953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420B36C-297B-26BA-B59E-3EF38DA49F7F}"/>
                </a:ext>
              </a:extLst>
            </p:cNvPr>
            <p:cNvSpPr/>
            <p:nvPr/>
          </p:nvSpPr>
          <p:spPr>
            <a:xfrm>
              <a:off x="0" y="0"/>
              <a:ext cx="5016500" cy="4953000"/>
            </a:xfrm>
            <a:custGeom>
              <a:avLst/>
              <a:gdLst/>
              <a:ahLst/>
              <a:cxnLst/>
              <a:rect l="l" t="t" r="r" b="b"/>
              <a:pathLst>
                <a:path w="5016500" h="4953000">
                  <a:moveTo>
                    <a:pt x="0" y="0"/>
                  </a:moveTo>
                  <a:lnTo>
                    <a:pt x="5016500" y="0"/>
                  </a:lnTo>
                  <a:lnTo>
                    <a:pt x="50165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BCD5686-34DA-5671-682A-43463D2208C7}"/>
                </a:ext>
              </a:extLst>
            </p:cNvPr>
            <p:cNvSpPr txBox="1"/>
            <p:nvPr/>
          </p:nvSpPr>
          <p:spPr>
            <a:xfrm>
              <a:off x="0" y="-38100"/>
              <a:ext cx="5016500" cy="499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EFD5961-794A-2EB3-3221-5162F87DB5AC}"/>
              </a:ext>
            </a:extLst>
          </p:cNvPr>
          <p:cNvGrpSpPr/>
          <p:nvPr/>
        </p:nvGrpSpPr>
        <p:grpSpPr>
          <a:xfrm>
            <a:off x="5095875" y="3333750"/>
            <a:ext cx="3762375" cy="3714750"/>
            <a:chOff x="0" y="0"/>
            <a:chExt cx="5016500" cy="49530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6166D07-53BE-6FBE-A4C3-388D76DDDB92}"/>
                </a:ext>
              </a:extLst>
            </p:cNvPr>
            <p:cNvSpPr/>
            <p:nvPr/>
          </p:nvSpPr>
          <p:spPr>
            <a:xfrm>
              <a:off x="0" y="0"/>
              <a:ext cx="5016500" cy="4953000"/>
            </a:xfrm>
            <a:custGeom>
              <a:avLst/>
              <a:gdLst/>
              <a:ahLst/>
              <a:cxnLst/>
              <a:rect l="l" t="t" r="r" b="b"/>
              <a:pathLst>
                <a:path w="5016500" h="4953000">
                  <a:moveTo>
                    <a:pt x="0" y="0"/>
                  </a:moveTo>
                  <a:lnTo>
                    <a:pt x="5016500" y="0"/>
                  </a:lnTo>
                  <a:lnTo>
                    <a:pt x="50165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8A2F794-6EF6-9EF8-5CB8-19FE6F912277}"/>
                </a:ext>
              </a:extLst>
            </p:cNvPr>
            <p:cNvSpPr txBox="1"/>
            <p:nvPr/>
          </p:nvSpPr>
          <p:spPr>
            <a:xfrm>
              <a:off x="0" y="-38100"/>
              <a:ext cx="5016500" cy="499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E873E99-3C6A-850A-0A6D-44FBC2336D98}"/>
              </a:ext>
            </a:extLst>
          </p:cNvPr>
          <p:cNvGrpSpPr/>
          <p:nvPr/>
        </p:nvGrpSpPr>
        <p:grpSpPr>
          <a:xfrm>
            <a:off x="9334500" y="4333875"/>
            <a:ext cx="3762375" cy="3714750"/>
            <a:chOff x="0" y="0"/>
            <a:chExt cx="5016500" cy="49530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09987F6-9461-60E0-59A9-9B1605545682}"/>
                </a:ext>
              </a:extLst>
            </p:cNvPr>
            <p:cNvSpPr/>
            <p:nvPr/>
          </p:nvSpPr>
          <p:spPr>
            <a:xfrm>
              <a:off x="0" y="0"/>
              <a:ext cx="5016500" cy="4953000"/>
            </a:xfrm>
            <a:custGeom>
              <a:avLst/>
              <a:gdLst/>
              <a:ahLst/>
              <a:cxnLst/>
              <a:rect l="l" t="t" r="r" b="b"/>
              <a:pathLst>
                <a:path w="5016500" h="4953000">
                  <a:moveTo>
                    <a:pt x="0" y="0"/>
                  </a:moveTo>
                  <a:lnTo>
                    <a:pt x="5016500" y="0"/>
                  </a:lnTo>
                  <a:lnTo>
                    <a:pt x="50165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B1D2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3F2B714-A40F-B592-E2E2-F7E70021B374}"/>
                </a:ext>
              </a:extLst>
            </p:cNvPr>
            <p:cNvSpPr txBox="1"/>
            <p:nvPr/>
          </p:nvSpPr>
          <p:spPr>
            <a:xfrm>
              <a:off x="0" y="-38100"/>
              <a:ext cx="5016500" cy="499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D30A39B-591C-5127-D2A7-02AB0E0FE648}"/>
              </a:ext>
            </a:extLst>
          </p:cNvPr>
          <p:cNvGrpSpPr/>
          <p:nvPr/>
        </p:nvGrpSpPr>
        <p:grpSpPr>
          <a:xfrm>
            <a:off x="13573125" y="5334000"/>
            <a:ext cx="3762375" cy="3714750"/>
            <a:chOff x="0" y="0"/>
            <a:chExt cx="5016500" cy="49530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6DA49B1-2131-3830-47D0-B8F93589A7A5}"/>
                </a:ext>
              </a:extLst>
            </p:cNvPr>
            <p:cNvSpPr/>
            <p:nvPr/>
          </p:nvSpPr>
          <p:spPr>
            <a:xfrm>
              <a:off x="0" y="0"/>
              <a:ext cx="5016500" cy="4953000"/>
            </a:xfrm>
            <a:custGeom>
              <a:avLst/>
              <a:gdLst/>
              <a:ahLst/>
              <a:cxnLst/>
              <a:rect l="l" t="t" r="r" b="b"/>
              <a:pathLst>
                <a:path w="5016500" h="4953000">
                  <a:moveTo>
                    <a:pt x="0" y="0"/>
                  </a:moveTo>
                  <a:lnTo>
                    <a:pt x="5016500" y="0"/>
                  </a:lnTo>
                  <a:lnTo>
                    <a:pt x="50165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2878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FD82970-831E-FE76-9814-E2872B4707DA}"/>
                </a:ext>
              </a:extLst>
            </p:cNvPr>
            <p:cNvSpPr txBox="1"/>
            <p:nvPr/>
          </p:nvSpPr>
          <p:spPr>
            <a:xfrm>
              <a:off x="0" y="-38100"/>
              <a:ext cx="5016500" cy="499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0FC604FC-2E04-616A-FF9A-58893CB366BB}"/>
              </a:ext>
            </a:extLst>
          </p:cNvPr>
          <p:cNvSpPr txBox="1"/>
          <p:nvPr/>
        </p:nvSpPr>
        <p:spPr>
          <a:xfrm>
            <a:off x="1143000" y="2638425"/>
            <a:ext cx="3143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LEVEL 1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0C894FA-8621-1151-BB34-3A5035562FB1}"/>
              </a:ext>
            </a:extLst>
          </p:cNvPr>
          <p:cNvSpPr txBox="1"/>
          <p:nvPr/>
        </p:nvSpPr>
        <p:spPr>
          <a:xfrm>
            <a:off x="1143000" y="3152775"/>
            <a:ext cx="314325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BETTER SENSING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ADDB1B4-7356-2350-CE09-811F651685E3}"/>
              </a:ext>
            </a:extLst>
          </p:cNvPr>
          <p:cNvSpPr txBox="1"/>
          <p:nvPr/>
        </p:nvSpPr>
        <p:spPr>
          <a:xfrm>
            <a:off x="1143000" y="4133850"/>
            <a:ext cx="3143250" cy="42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High-bandwidth accelerometers • piezo • force sensing • isolation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3F6A3A7-59D4-5EE3-8E9E-2316690CD78A}"/>
              </a:ext>
            </a:extLst>
          </p:cNvPr>
          <p:cNvSpPr txBox="1"/>
          <p:nvPr/>
        </p:nvSpPr>
        <p:spPr>
          <a:xfrm>
            <a:off x="5381625" y="3638550"/>
            <a:ext cx="3143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LEVEL 2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1C62D2C-1317-F381-5C3D-274079138F58}"/>
              </a:ext>
            </a:extLst>
          </p:cNvPr>
          <p:cNvSpPr txBox="1"/>
          <p:nvPr/>
        </p:nvSpPr>
        <p:spPr>
          <a:xfrm>
            <a:off x="5381625" y="4152900"/>
            <a:ext cx="314325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BETTER DSP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D8FCF3B-4121-F283-39DC-7637035E905B}"/>
              </a:ext>
            </a:extLst>
          </p:cNvPr>
          <p:cNvSpPr txBox="1"/>
          <p:nvPr/>
        </p:nvSpPr>
        <p:spPr>
          <a:xfrm>
            <a:off x="5381625" y="5133975"/>
            <a:ext cx="3143250" cy="42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 filters • wavelets • resonance tracking • optimised FFT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093E3A7-C940-7047-B104-83542604E481}"/>
              </a:ext>
            </a:extLst>
          </p:cNvPr>
          <p:cNvSpPr txBox="1"/>
          <p:nvPr/>
        </p:nvSpPr>
        <p:spPr>
          <a:xfrm>
            <a:off x="9620250" y="4638675"/>
            <a:ext cx="3143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27E6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LEVEL 3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A40C50B-199B-E3F9-25FA-11E47ADD965C}"/>
              </a:ext>
            </a:extLst>
          </p:cNvPr>
          <p:cNvSpPr txBox="1"/>
          <p:nvPr/>
        </p:nvSpPr>
        <p:spPr>
          <a:xfrm>
            <a:off x="9620250" y="5153025"/>
            <a:ext cx="3143250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REAL MACHINE LEARNING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7A09973-821F-7F05-22C0-20D9A0146F5D}"/>
              </a:ext>
            </a:extLst>
          </p:cNvPr>
          <p:cNvSpPr txBox="1"/>
          <p:nvPr/>
        </p:nvSpPr>
        <p:spPr>
          <a:xfrm>
            <a:off x="9620250" y="6134100"/>
            <a:ext cx="3143250" cy="42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 training → optimise → TinyML → ESP32 edge inference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94F0C35-4F26-0E52-8D67-5508AC082D6A}"/>
              </a:ext>
            </a:extLst>
          </p:cNvPr>
          <p:cNvSpPr txBox="1"/>
          <p:nvPr/>
        </p:nvSpPr>
        <p:spPr>
          <a:xfrm>
            <a:off x="13858875" y="5638800"/>
            <a:ext cx="3143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F4FB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LEVEL 4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26668F2-D690-7B2A-EAD3-8799D357106C}"/>
              </a:ext>
            </a:extLst>
          </p:cNvPr>
          <p:cNvSpPr txBox="1"/>
          <p:nvPr/>
        </p:nvSpPr>
        <p:spPr>
          <a:xfrm>
            <a:off x="13858875" y="6153150"/>
            <a:ext cx="314325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INDUSTRIAL SCALE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E650C16-BCEC-35E0-6A3F-B3C753EA64B7}"/>
              </a:ext>
            </a:extLst>
          </p:cNvPr>
          <p:cNvSpPr txBox="1"/>
          <p:nvPr/>
        </p:nvSpPr>
        <p:spPr>
          <a:xfrm>
            <a:off x="13858875" y="7134225"/>
            <a:ext cx="3143250" cy="42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Calibrated impact • multi-sensor line • database • dashboard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9FBA829-C8F2-0F27-E161-A1CBA61D623F}"/>
              </a:ext>
            </a:extLst>
          </p:cNvPr>
          <p:cNvSpPr txBox="1"/>
          <p:nvPr/>
        </p:nvSpPr>
        <p:spPr>
          <a:xfrm>
            <a:off x="685800" y="7828510"/>
            <a:ext cx="7620000" cy="82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000" b="1" dirty="0">
                <a:solidFill>
                  <a:srgbClr val="F4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 are not simply measuring vibration. We are turning vibration into information — and information into a decision.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C2B9BEA-F6AC-FFAA-A9BE-A844CA182FCB}"/>
              </a:ext>
            </a:extLst>
          </p:cNvPr>
          <p:cNvSpPr txBox="1"/>
          <p:nvPr/>
        </p:nvSpPr>
        <p:spPr>
          <a:xfrm>
            <a:off x="4381500" y="9061132"/>
            <a:ext cx="95250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5"/>
              </a:lnSpc>
            </a:pPr>
            <a:r>
              <a:rPr lang="en-US" sz="3225" b="1" dirty="0">
                <a:solidFill>
                  <a:srgbClr val="27E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IMPACT TO INSIGHT.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569985D-DDD0-9971-1DE0-39BA09717746}"/>
              </a:ext>
            </a:extLst>
          </p:cNvPr>
          <p:cNvSpPr txBox="1"/>
          <p:nvPr/>
        </p:nvSpPr>
        <p:spPr>
          <a:xfrm>
            <a:off x="857250" y="9791700"/>
            <a:ext cx="16573500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 dirty="0">
                <a:solidFill>
                  <a:srgbClr val="91AABD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 VELLORE  •  B.TECH ECE AND VLSI                                     18 / 18</a:t>
            </a:r>
          </a:p>
        </p:txBody>
      </p:sp>
    </p:spTree>
    <p:extLst>
      <p:ext uri="{BB962C8B-B14F-4D97-AF65-F5344CB8AC3E}">
        <p14:creationId xmlns:p14="http://schemas.microsoft.com/office/powerpoint/2010/main" val="3279946461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37</TotalTime>
  <Words>1166</Words>
  <Application>Microsoft Office PowerPoint</Application>
  <PresentationFormat>Custom</PresentationFormat>
  <Paragraphs>256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Akzidenz-Grotesk Bold Italics</vt:lpstr>
      <vt:lpstr>IBM Plex Sans</vt:lpstr>
      <vt:lpstr>Akzidenz-Grotesk Bold</vt:lpstr>
      <vt:lpstr>IBM Plex Sans Bold</vt:lpstr>
      <vt:lpstr>Aptos</vt:lpstr>
      <vt:lpstr>Arial Nova Light</vt:lpstr>
      <vt:lpstr>Arial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EDGE-BASED THERMO-ACOUSTIC</dc:title>
  <dc:creator>Subhaom Patro</dc:creator>
  <cp:lastModifiedBy>Subhaom Patro</cp:lastModifiedBy>
  <cp:revision>2</cp:revision>
  <dcterms:created xsi:type="dcterms:W3CDTF">2006-08-16T00:00:00Z</dcterms:created>
  <dcterms:modified xsi:type="dcterms:W3CDTF">2026-10-26T17:12:19Z</dcterms:modified>
  <dc:identifier>DAHVGgsltig</dc:identifier>
</cp:coreProperties>
</file>